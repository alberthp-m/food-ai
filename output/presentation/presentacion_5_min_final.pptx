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03b3d818c14dbb" /><Relationship Type="http://schemas.openxmlformats.org/officeDocument/2006/relationships/extended-properties" Target="/docProps/app.xml" Id="Rc2d394c56f2a43bb" /><Relationship Type="http://schemas.openxmlformats.org/officeDocument/2006/relationships/officeDocument" Target="/ppt/presentation.xml" Id="Rf809b83a66a041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a96a5572df4b4a"/>
  </p:sldMasterIdLst>
  <p:notesMasterIdLst>
    <p:notesMasterId xmlns:r="http://schemas.openxmlformats.org/officeDocument/2006/relationships" r:id="R2391498841bd4f89"/>
  </p:notesMasterIdLst>
  <p:sldIdLst>
    <p:sldId xmlns:r="http://schemas.openxmlformats.org/officeDocument/2006/relationships" id="256" r:id="R1102a658c710422e"/>
    <p:sldId xmlns:r="http://schemas.openxmlformats.org/officeDocument/2006/relationships" id="257" r:id="R040899af40b040b4"/>
    <p:sldId xmlns:r="http://schemas.openxmlformats.org/officeDocument/2006/relationships" id="258" r:id="R081861f7e4264e4b"/>
    <p:sldId xmlns:r="http://schemas.openxmlformats.org/officeDocument/2006/relationships" id="259" r:id="R6c894606db034d97"/>
    <p:sldId xmlns:r="http://schemas.openxmlformats.org/officeDocument/2006/relationships" id="260" r:id="Rc88ed3cacdfb472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59062c64ef4094" /><Relationship Type="http://schemas.openxmlformats.org/officeDocument/2006/relationships/slideMaster" Target="/ppt/slideMasters/slideMaster1.xml" Id="R80a96a5572df4b4a" /><Relationship Type="http://schemas.openxmlformats.org/officeDocument/2006/relationships/notesMaster" Target="/ppt/notesMasters/notesMaster1.xml" Id="R2391498841bd4f89" /><Relationship Type="http://schemas.openxmlformats.org/officeDocument/2006/relationships/presProps" Target="/ppt/presProps.xml" Id="R090364ad44f7454e" /><Relationship Type="http://schemas.openxmlformats.org/officeDocument/2006/relationships/tableStyles" Target="/ppt/tableStyles.xml" Id="R02e52ec0bbb14f24" /><Relationship Type="http://schemas.openxmlformats.org/officeDocument/2006/relationships/slide" Target="/ppt/slides/slide1.xml" Id="R1102a658c710422e" /><Relationship Type="http://schemas.openxmlformats.org/officeDocument/2006/relationships/slide" Target="/ppt/slides/slide2.xml" Id="R040899af40b040b4" /><Relationship Type="http://schemas.openxmlformats.org/officeDocument/2006/relationships/slide" Target="/ppt/slides/slide3.xml" Id="R081861f7e4264e4b" /><Relationship Type="http://schemas.openxmlformats.org/officeDocument/2006/relationships/slide" Target="/ppt/slides/slide4.xml" Id="R6c894606db034d97" /><Relationship Type="http://schemas.openxmlformats.org/officeDocument/2006/relationships/slide" Target="/ppt/slides/slide5.xml" Id="Rc88ed3cacdfb47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9e1627b4794f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c01171b6b34856" /><Relationship Type="http://schemas.openxmlformats.org/officeDocument/2006/relationships/notesMaster" Target="/ppt/notesMasters/notesMaster1.xml" Id="Rcb098f8d40fe4e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d47cfcba8f4621" /><Relationship Type="http://schemas.openxmlformats.org/officeDocument/2006/relationships/notesMaster" Target="/ppt/notesMasters/notesMaster1.xml" Id="R74a03129241d4f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2fa438ddf54980" /><Relationship Type="http://schemas.openxmlformats.org/officeDocument/2006/relationships/notesMaster" Target="/ppt/notesMasters/notesMaster1.xml" Id="Rb7b2e173c7414b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c5162c998343b5" /><Relationship Type="http://schemas.openxmlformats.org/officeDocument/2006/relationships/notesMaster" Target="/ppt/notesMasters/notesMaster1.xml" Id="Rfc96b62483fd45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7d2e19f103452b" /><Relationship Type="http://schemas.openxmlformats.org/officeDocument/2006/relationships/notesMaster" Target="/ppt/notesMasters/notesMaster1.xml" Id="R133993a23b184a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el problema en una frase: navegar manualmente por el menú no ayuda cuando hay preferencias, alergias o presupuesto. La solución recibe texto o voz y devuelve tres opciones.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Aquí debes explicar dónde está la IA: en el encoder multilingüe y la similitud semántica. El filtro de alergias no se deja a la IA; se ejecuta con reglas deterministas antes del ranking.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la unidad de datos y la línea base. El encoder preentrenado convierte consulta y platos en vectores; el reordenamiento usa los pesos seleccionados en validación.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métrica principal es Precision@3 porque la interfaz muestra tres resultados. La línea base supera al modelo en la prueba y esto se presenta como una limitación honesta.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Demostrar dos consultas, el caso sin coincidencias seguras y una entrada inválida. Cerrar con la limitación del dataset sintético y el trabajo futuro con feedback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4d7d01d0334e5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a19de4adb6488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b533b94fd34c4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59f14d52eb491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0c4e56515848a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b884e3788540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7C040CD-01C4-4E7F-981D-4572EA3E46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F36DDBE-5F3A-41C2-825D-F1EA1E070EB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A7C5E57-F245-4CBB-8954-326050EE9E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4468410-139E-40D7-9735-B2EEC412AB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DD1994D-B850-4A1E-8D1B-72F07FBE8E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5CD1BAE-5FD2-4D8A-828D-D1FE3146EC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C4C6E63-ACE8-4F6E-9D9A-2603D4C6FE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8BC0255-144C-412D-AFE8-B90CB33297A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802F0F6-3A90-49B0-B73B-A82395AC15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F209B10-25E3-4ACF-9D4E-72506463D3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22e9a5f78e420d" /><Relationship Type="http://schemas.openxmlformats.org/officeDocument/2006/relationships/slideLayout" Target="/ppt/slideLayouts/slideLayout1.xml" Id="Rab7f3259be284941" /><Relationship Type="http://schemas.openxmlformats.org/officeDocument/2006/relationships/slideLayout" Target="/ppt/slideLayouts/slideLayout2.xml" Id="Ra772e1b1a5784987" /><Relationship Type="http://schemas.openxmlformats.org/officeDocument/2006/relationships/slideLayout" Target="/ppt/slideLayouts/slideLayout3.xml" Id="R76820f0bc5fe4bbc" /><Relationship Type="http://schemas.openxmlformats.org/officeDocument/2006/relationships/slideLayout" Target="/ppt/slideLayouts/slideLayout4.xml" Id="R4434108433e1460d" /><Relationship Type="http://schemas.openxmlformats.org/officeDocument/2006/relationships/slideLayout" Target="/ppt/slideLayouts/slideLayout5.xml" Id="Ra32daf694c564b38" /><Relationship Type="http://schemas.openxmlformats.org/officeDocument/2006/relationships/slideLayout" Target="/ppt/slideLayouts/slideLayout6.xml" Id="R1faadf78879347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7f3259be284941"/>
    <p:sldLayoutId xmlns:r="http://schemas.openxmlformats.org/officeDocument/2006/relationships" id="2147483650" r:id="Ra772e1b1a5784987"/>
    <p:sldLayoutId xmlns:r="http://schemas.openxmlformats.org/officeDocument/2006/relationships" id="2147483651" r:id="R76820f0bc5fe4bbc"/>
    <p:sldLayoutId xmlns:r="http://schemas.openxmlformats.org/officeDocument/2006/relationships" id="2147483652" r:id="R4434108433e1460d"/>
    <p:sldLayoutId xmlns:r="http://schemas.openxmlformats.org/officeDocument/2006/relationships" id="2147483653" r:id="Ra32daf694c564b38"/>
    <p:sldLayoutId xmlns:r="http://schemas.openxmlformats.org/officeDocument/2006/relationships" id="2147483654" r:id="R1faadf78879347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d085b8b9c14879" /><Relationship Type="http://schemas.openxmlformats.org/officeDocument/2006/relationships/notesSlide" Target="/ppt/notesSlides/notesSlide1.xml" Id="R5632a610161445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490d6c299346e7" /><Relationship Type="http://schemas.openxmlformats.org/officeDocument/2006/relationships/notesSlide" Target="/ppt/notesSlides/notesSlide2.xml" Id="R8441adb0bb3645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fcde14dfcd48aa" /><Relationship Type="http://schemas.openxmlformats.org/officeDocument/2006/relationships/notesSlide" Target="/ppt/notesSlides/notesSlide3.xml" Id="Rb22134003adb44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131799a77042f9" /><Relationship Type="http://schemas.openxmlformats.org/officeDocument/2006/relationships/chart" Target="/ppt/slides/charts/chart1.xml" Id="R9976bb7f09f245dd" /><Relationship Type="http://schemas.openxmlformats.org/officeDocument/2006/relationships/notesSlide" Target="/ppt/notesSlides/notesSlide4.xml" Id="Rb231c5e2588746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d797004cd04bc5" /><Relationship Type="http://schemas.openxmlformats.org/officeDocument/2006/relationships/notesSlide" Target="/ppt/notesSlides/notesSlide5.xml" Id="R8d45f384d8744d2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Precision@3</c:v>
          </c:tx>
          <c:spPr>
            <a:solidFill xmlns:a="http://schemas.openxmlformats.org/drawingml/2006/main">
              <a:srgbClr val="7D55E8"/>
            </a:solidFill>
          </c:spPr>
          <c:cat>
            <c:strRef>
              <c:f>'Chart Data'!$A$2:$A$4</c:f>
              <c:strCache>
                <c:ptCount val="3"/>
                <c:pt idx="0">
                  <c:v>Pesos
validación</c:v>
                </c:pt>
                <c:pt idx="1">
                  <c:v>Línea
base</c:v>
                </c:pt>
                <c:pt idx="2">
                  <c:v>Modelo
híbrido</c:v>
                </c:pt>
              </c:strCache>
            </c:strRef>
          </c:cat>
          <c:val>
            <c:numRef>
              <c:f>'Chart Data'!$B$2:$B$4</c:f>
              <c:numCache>
                <c:formatCode>0.0000</c:formatCode>
                <c:ptCount val="3"/>
                <c:pt idx="0">
                  <c:v>0.6167</c:v>
                </c:pt>
                <c:pt idx="1">
                  <c:v>0.6121</c:v>
                </c:pt>
                <c:pt idx="2">
                  <c:v>0.4727</c:v>
                </c:pt>
              </c:numCache>
            </c:numRef>
          </c:val>
        </c:ser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E667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C"/>
              </a:solidFill>
              <a:prstDash val="solid"/>
            </a:ln>
          </c:spPr>
        </c:majorGridlines>
        <c:numFmt formatCode="0.0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7F9FC"/>
        </a:solidFill>
      </c:spPr>
    </c:plotArea>
    <c:plotVisOnly val="1"/>
  </c:chart>
  <c:spPr>
    <a:solidFill xmlns:a="http://schemas.openxmlformats.org/drawingml/2006/main">
      <a:srgbClr val="F7F9FC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B8066A-0F18-4004-BBE1-7DEC08D3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0EF131-267E-4E39-97C9-0CECA36B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-400050"/>
            <a:ext cx="1762125" cy="1104900"/>
          </a:xfrm>
          <a:custGeom xmlns:a="http://schemas.openxmlformats.org/drawingml/2006/main">
            <a:pathLst>
              <a:path w="1762125" h="1104900">
                <a:moveTo>
                  <a:pt x="0" y="0"/>
                </a:moveTo>
                <a:lnTo>
                  <a:pt x="1762125" y="0"/>
                </a:lnTo>
                <a:lnTo>
                  <a:pt x="1333500" y="1104900"/>
                </a:lnTo>
                <a:lnTo>
                  <a:pt x="476250" y="1104900"/>
                </a:lnTo>
                <a:close/>
              </a:path>
            </a:pathLst>
          </a:custGeom>
          <a:solidFill xmlns:a="http://schemas.openxmlformats.org/drawingml/2006/main">
            <a:srgbClr val="16B8E5"/>
          </a:solidFill>
          <a:ln xmlns:a="http://schemas.openxmlformats.org/drawingml/2006/main" w="9525">
            <a:solidFill>
              <a:srgbClr val="16B8E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B5D484-07C1-4354-8321-300CCE64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6248400"/>
            <a:ext cx="1714500" cy="914400"/>
          </a:xfrm>
          <a:custGeom xmlns:a="http://schemas.openxmlformats.org/drawingml/2006/main">
            <a:pathLst>
              <a:path w="1714500" h="914400">
                <a:moveTo>
                  <a:pt x="400050" y="0"/>
                </a:moveTo>
                <a:lnTo>
                  <a:pt x="1314450" y="0"/>
                </a:lnTo>
                <a:lnTo>
                  <a:pt x="1714500" y="914400"/>
                </a:lnTo>
                <a:lnTo>
                  <a:pt x="0" y="914400"/>
                </a:lnTo>
                <a:close/>
              </a:path>
            </a:pathLst>
          </a:custGeom>
          <a:solidFill xmlns:a="http://schemas.openxmlformats.org/drawingml/2006/main">
            <a:srgbClr val="7D55E8"/>
          </a:solidFill>
          <a:ln xmlns:a="http://schemas.openxmlformats.org/drawingml/2006/main" w="9525">
            <a:solidFill>
              <a:srgbClr val="7D55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27609C-6EE7-4D4B-BD9D-E800618F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29200"/>
            <a:ext cx="1619250" cy="1619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CBD48B-4D93-431F-8B2A-5FD251A1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914900"/>
            <a:ext cx="1847850" cy="1847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B8E5">
                <a:alpha val="4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1FEA6F-970B-4754-BA88-9BD0CD37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66750"/>
            <a:ext cx="2095500" cy="2476500"/>
          </a:xfrm>
          <a:custGeom xmlns:a="http://schemas.openxmlformats.org/drawingml/2006/main">
            <a:pathLst>
              <a:path w="2095500" h="2476500">
                <a:moveTo>
                  <a:pt x="762000" y="0"/>
                </a:moveTo>
                <a:lnTo>
                  <a:pt x="2095500" y="0"/>
                </a:lnTo>
                <a:lnTo>
                  <a:pt x="2095500" y="1428750"/>
                </a:lnTo>
                <a:lnTo>
                  <a:pt x="1066800" y="2476500"/>
                </a:lnTo>
                <a:lnTo>
                  <a:pt x="0" y="2476500"/>
                </a:lnTo>
                <a:lnTo>
                  <a:pt x="0" y="11049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D55E8">
                <a:alpha val="46667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FD769E-FF27-483A-974E-C6C2AC94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8102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E5"/>
          </a:solidFill>
          <a:ln xmlns:a="http://schemas.openxmlformats.org/drawingml/2006/main" w="0">
            <a:solidFill>
              <a:srgbClr val="16B8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64CFFC-3A27-4E89-A71B-1D3BA33A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160" y="651071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E5"/>
          </a:solidFill>
          <a:ln xmlns:a="http://schemas.openxmlformats.org/drawingml/2006/main" w="0">
            <a:solidFill>
              <a:srgbClr val="16B8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894276-6E12-46A3-B017-FA811DE1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008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E5"/>
          </a:solidFill>
          <a:ln xmlns:a="http://schemas.openxmlformats.org/drawingml/2006/main" w="0">
            <a:solidFill>
              <a:srgbClr val="16B8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8BA790-5842-4434-879C-45654573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40" y="651071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E5"/>
          </a:solidFill>
          <a:ln xmlns:a="http://schemas.openxmlformats.org/drawingml/2006/main" w="0">
            <a:solidFill>
              <a:srgbClr val="16B8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91701D-E859-490D-BF32-6040CFDF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" y="58102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E5"/>
          </a:solidFill>
          <a:ln xmlns:a="http://schemas.openxmlformats.org/drawingml/2006/main" w="0">
            <a:solidFill>
              <a:srgbClr val="16B8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42AABA-E7D0-45A2-9866-A16CE80C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40" y="510979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E5"/>
          </a:solidFill>
          <a:ln xmlns:a="http://schemas.openxmlformats.org/drawingml/2006/main" w="0">
            <a:solidFill>
              <a:srgbClr val="16B8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0B28D3-2720-4BF1-BD15-5B9CC35A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196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E5"/>
          </a:solidFill>
          <a:ln xmlns:a="http://schemas.openxmlformats.org/drawingml/2006/main" w="0">
            <a:solidFill>
              <a:srgbClr val="16B8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1C5D6D-2C14-41F6-9172-FA794CAE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160" y="510979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E5"/>
          </a:solidFill>
          <a:ln xmlns:a="http://schemas.openxmlformats.org/drawingml/2006/main" w="0">
            <a:solidFill>
              <a:srgbClr val="16B8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1447A1-E773-4CE0-BBA6-623124E1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 i="0">
                <a:solidFill>
                  <a:srgbClr val="087EAE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087EAE"/>
                </a:solidFill>
                <a:latin typeface="Oswald"/>
                <a:ea typeface="Oswald"/>
                <a:cs typeface="Oswald"/>
              </a:defRPr>
            </a:pPr>
            <a:r>
              <a:rPr sz="1125" b="1" i="0">
                <a:solidFill>
                  <a:srgbClr val="087EAE"/>
                </a:solidFill>
                <a:latin typeface="Oswald"/>
                <a:ea typeface="Oswald"/>
                <a:cs typeface="Oswald"/>
              </a:rPr>
              <a:t>PROYECTO FINAL · MACHINE LEARNING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7C05B4-A9D5-4C1C-9663-603F5C62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62075"/>
            <a:ext cx="581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405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defPPr>
          </a:lstStyle>
          <a:p xmlns:a="http://schemas.openxmlformats.org/drawingml/2006/main">
            <a:pPr algn="l">
              <a:defRPr sz="405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pPr>
            <a:r>
              <a:rPr sz="4050" b="1" i="0">
                <a:solidFill>
                  <a:srgbClr val="202638"/>
                </a:solidFill>
                <a:latin typeface="Blinker"/>
                <a:ea typeface="Blinker"/>
                <a:cs typeface="Blinker"/>
              </a:rPr>
              <a:t>Food AI</a:t>
            </a:r>
          </a:p>
          <a:p xmlns:a="http://schemas.openxmlformats.org/drawingml/2006/main">
            <a:pPr algn="l">
              <a:defRPr sz="405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pPr>
            <a:r>
              <a:rPr sz="4050" b="1" i="0">
                <a:solidFill>
                  <a:srgbClr val="202638"/>
                </a:solidFill>
                <a:latin typeface="Blinker"/>
                <a:ea typeface="Blinker"/>
                <a:cs typeface="Blinker"/>
              </a:rPr>
              <a:t>Recommender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9E93E8-FAB5-484F-BCDB-B57FA99B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263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CE2C10-7C44-4305-AB71-569AABCE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263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4CAF5F-5A69-47B2-A060-21B25386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4810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pPr>
            <a:r>
              <a:rPr sz="1575" b="0" i="0">
                <a:solidFill>
                  <a:srgbClr val="5E6676"/>
                </a:solidFill>
                <a:latin typeface="Oswald"/>
                <a:ea typeface="Oswald"/>
                <a:cs typeface="Oswald"/>
              </a:rPr>
              <a:t>Recomendación semántica de platos según preferencias, restricciones y lenguaje natural.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3C960E-3EA0-4621-916C-9A5962BF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1" i="0">
                <a:solidFill>
                  <a:srgbClr val="2026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20263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02638"/>
                </a:solidFill>
                <a:latin typeface="Arial"/>
                <a:ea typeface="Arial"/>
                <a:cs typeface="Arial"/>
              </a:rPr>
              <a:t>Alberto Orlando Paredes Mamani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15A33F-10CF-4973-9968-8F5654A9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5292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 i="0">
                <a:solidFill>
                  <a:srgbClr val="7D55E8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7D55E8"/>
                </a:solidFill>
                <a:latin typeface="Oswald"/>
                <a:ea typeface="Oswald"/>
                <a:cs typeface="Oswald"/>
              </a:defRPr>
            </a:pPr>
            <a:r>
              <a:rPr sz="1050" b="1" i="0">
                <a:solidFill>
                  <a:srgbClr val="7D55E8"/>
                </a:solidFill>
                <a:latin typeface="Oswald"/>
                <a:ea typeface="Oswald"/>
                <a:cs typeface="Oswald"/>
              </a:rPr>
              <a:t>Repositorio · github.com/alberthP-M/food-ai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071330-0DBB-435D-A41D-551069BC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B8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731E71-F27B-4A6F-9DBF-22C30550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1" i="0">
                <a:solidFill>
                  <a:srgbClr val="16B8E5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16B8E5"/>
                </a:solidFill>
                <a:latin typeface="Oswald"/>
                <a:ea typeface="Oswald"/>
                <a:cs typeface="Oswald"/>
              </a:defRPr>
            </a:pPr>
            <a:r>
              <a:rPr sz="1125" b="1" i="0">
                <a:solidFill>
                  <a:srgbClr val="16B8E5"/>
                </a:solidFill>
                <a:latin typeface="Oswald"/>
                <a:ea typeface="Oswald"/>
                <a:cs typeface="Oswald"/>
              </a:rPr>
              <a:t>80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1908CF-ED1A-4E30-B007-3D0F10DD6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86300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 i="0">
                <a:solidFill>
                  <a:srgbClr val="087EAE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087EAE"/>
                </a:solidFill>
                <a:latin typeface="Oswald"/>
                <a:ea typeface="Oswald"/>
                <a:cs typeface="Oswald"/>
              </a:defRPr>
            </a:pPr>
            <a:r>
              <a:rPr sz="975" b="1" i="0">
                <a:solidFill>
                  <a:srgbClr val="087EAE"/>
                </a:solidFill>
                <a:latin typeface="Oswald"/>
                <a:ea typeface="Oswald"/>
                <a:cs typeface="Oswald"/>
              </a:rPr>
              <a:t>PLATOS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7B8725-C9CA-4A4E-B57E-E796666E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863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00" b="0" i="0">
                <a:solidFill>
                  <a:srgbClr val="5E66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5E667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E6676"/>
                </a:solidFill>
                <a:latin typeface="Arial"/>
                <a:ea typeface="Arial"/>
                <a:cs typeface="Arial"/>
              </a:rPr>
              <a:t>catálogo reproducible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44A29A-248C-4F80-BAE0-C2866A60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686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D55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D6D7F0-AB43-4E59-B42E-5E149B81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7910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1" i="0">
                <a:solidFill>
                  <a:srgbClr val="7D55E8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7D55E8"/>
                </a:solidFill>
                <a:latin typeface="Oswald"/>
                <a:ea typeface="Oswald"/>
                <a:cs typeface="Oswald"/>
              </a:defRPr>
            </a:pPr>
            <a:r>
              <a:rPr sz="1125" b="1" i="0">
                <a:solidFill>
                  <a:srgbClr val="7D55E8"/>
                </a:solidFill>
                <a:latin typeface="Oswald"/>
                <a:ea typeface="Oswald"/>
                <a:cs typeface="Oswald"/>
              </a:rPr>
              <a:t>100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99B3E4-9166-4BF6-8162-A0FBE66E7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686300"/>
            <a:ext cx="133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 i="0">
                <a:solidFill>
                  <a:srgbClr val="7D55E8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7D55E8"/>
                </a:solidFill>
                <a:latin typeface="Oswald"/>
                <a:ea typeface="Oswald"/>
                <a:cs typeface="Oswald"/>
              </a:defRPr>
            </a:pPr>
            <a:r>
              <a:rPr sz="975" b="1" i="0">
                <a:solidFill>
                  <a:srgbClr val="7D55E8"/>
                </a:solidFill>
                <a:latin typeface="Oswald"/>
                <a:ea typeface="Oswald"/>
                <a:cs typeface="Oswald"/>
              </a:rPr>
              <a:t>CONSULTAS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86EA94-BD3C-4BD8-92BA-0B41EABD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8863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00" b="0" i="0">
                <a:solidFill>
                  <a:srgbClr val="5E66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5E667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E6676"/>
                </a:solidFill>
                <a:latin typeface="Arial"/>
                <a:ea typeface="Arial"/>
                <a:cs typeface="Arial"/>
              </a:rPr>
              <a:t>anotadas y separadas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1BFA86-D862-4640-AB65-E37EBACE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686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08A2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A1839C-738C-497F-9798-BC521F3C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7910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1" i="0">
                <a:solidFill>
                  <a:srgbClr val="E08A22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E08A22"/>
                </a:solidFill>
                <a:latin typeface="Oswald"/>
                <a:ea typeface="Oswald"/>
                <a:cs typeface="Oswald"/>
              </a:defRPr>
            </a:pPr>
            <a:r>
              <a:rPr sz="1125" b="1" i="0">
                <a:solidFill>
                  <a:srgbClr val="E08A22"/>
                </a:solidFill>
                <a:latin typeface="Oswald"/>
                <a:ea typeface="Oswald"/>
                <a:cs typeface="Oswald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1A08BC-E8F3-40E9-B339-D3CDE48D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686300"/>
            <a:ext cx="952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 i="0">
                <a:solidFill>
                  <a:srgbClr val="E08A22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E08A22"/>
                </a:solidFill>
                <a:latin typeface="Oswald"/>
                <a:ea typeface="Oswald"/>
                <a:cs typeface="Oswald"/>
              </a:defRPr>
            </a:pPr>
            <a:r>
              <a:rPr sz="975" b="1" i="0">
                <a:solidFill>
                  <a:srgbClr val="E08A22"/>
                </a:solidFill>
                <a:latin typeface="Oswald"/>
                <a:ea typeface="Oswald"/>
                <a:cs typeface="Oswald"/>
              </a:rPr>
              <a:t>TOP-3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44ADA4-3444-49D7-B9BA-7F0D7BA1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8863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00" b="0" i="0">
                <a:solidFill>
                  <a:srgbClr val="5E66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5E667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E6676"/>
                </a:solidFill>
                <a:latin typeface="Arial"/>
                <a:ea typeface="Arial"/>
                <a:cs typeface="Arial"/>
              </a:rPr>
              <a:t>resultado visible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6559E1-6C69-42E0-BC67-7064545E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3524250" cy="2724150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EAF9FD"/>
          </a:solidFill>
          <a:ln xmlns:a="http://schemas.openxmlformats.org/drawingml/2006/main" w="9525">
            <a:solidFill>
              <a:srgbClr val="16B8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CC6F97-84B9-45B1-AED3-45298F72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145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 i="0">
                <a:solidFill>
                  <a:srgbClr val="087EAE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087EAE"/>
                </a:solidFill>
                <a:latin typeface="Oswald"/>
                <a:ea typeface="Oswald"/>
                <a:cs typeface="Oswald"/>
              </a:defRPr>
            </a:pPr>
            <a:r>
              <a:rPr sz="1050" b="1" i="0">
                <a:solidFill>
                  <a:srgbClr val="087EAE"/>
                </a:solidFill>
                <a:latin typeface="Oswald"/>
                <a:ea typeface="Oswald"/>
                <a:cs typeface="Oswald"/>
              </a:rPr>
              <a:t>DE LA CONSULTA AL PLATO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10AFFB-4F55-47E8-859C-1955B963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1460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pPr>
            <a:r>
              <a:rPr sz="1650" b="1" i="0">
                <a:solidFill>
                  <a:srgbClr val="202638"/>
                </a:solidFill>
                <a:latin typeface="Blinker"/>
                <a:ea typeface="Blinker"/>
                <a:cs typeface="Blinker"/>
              </a:rPr>
              <a:t>Escribe o habla</a:t>
            </a:r>
          </a:p>
          <a:p xmlns:a="http://schemas.openxmlformats.org/drawingml/2006/main">
            <a:pPr algn="l">
              <a:defRPr sz="165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pPr>
            <a:r>
              <a:rPr sz="1650" b="1" i="0">
                <a:solidFill>
                  <a:srgbClr val="202638"/>
                </a:solidFill>
                <a:latin typeface="Blinker"/>
                <a:ea typeface="Blinker"/>
                <a:cs typeface="Blinker"/>
              </a:rPr>
              <a:t>↓</a:t>
            </a:r>
          </a:p>
          <a:p xmlns:a="http://schemas.openxmlformats.org/drawingml/2006/main">
            <a:pPr algn="l">
              <a:defRPr sz="165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pPr>
            <a:r>
              <a:rPr sz="1650" b="1" i="0">
                <a:solidFill>
                  <a:srgbClr val="202638"/>
                </a:solidFill>
                <a:latin typeface="Blinker"/>
                <a:ea typeface="Blinker"/>
                <a:cs typeface="Blinker"/>
              </a:rPr>
              <a:t>La IA interpreta</a:t>
            </a:r>
          </a:p>
          <a:p xmlns:a="http://schemas.openxmlformats.org/drawingml/2006/main">
            <a:pPr algn="l">
              <a:defRPr sz="165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pPr>
            <a:r>
              <a:rPr sz="1650" b="1" i="0">
                <a:solidFill>
                  <a:srgbClr val="202638"/>
                </a:solidFill>
                <a:latin typeface="Blinker"/>
                <a:ea typeface="Blinker"/>
                <a:cs typeface="Blinker"/>
              </a:rPr>
              <a:t>↓</a:t>
            </a:r>
          </a:p>
          <a:p xmlns:a="http://schemas.openxmlformats.org/drawingml/2006/main">
            <a:pPr algn="l">
              <a:defRPr sz="165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pPr>
            <a:r>
              <a:rPr sz="1650" b="1" i="0">
                <a:solidFill>
                  <a:srgbClr val="202638"/>
                </a:solidFill>
                <a:latin typeface="Blinker"/>
                <a:ea typeface="Blinker"/>
                <a:cs typeface="Blinker"/>
              </a:rPr>
              <a:t>Filtro seguro</a:t>
            </a:r>
          </a:p>
          <a:p xmlns:a="http://schemas.openxmlformats.org/drawingml/2006/main">
            <a:pPr algn="l">
              <a:defRPr sz="165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pPr>
            <a:r>
              <a:rPr sz="1650" b="1" i="0">
                <a:solidFill>
                  <a:srgbClr val="202638"/>
                </a:solidFill>
                <a:latin typeface="Blinker"/>
                <a:ea typeface="Blinker"/>
                <a:cs typeface="Blinker"/>
              </a:rPr>
              <a:t>↓</a:t>
            </a:r>
          </a:p>
          <a:p xmlns:a="http://schemas.openxmlformats.org/drawingml/2006/main">
            <a:pPr algn="l">
              <a:defRPr sz="165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pPr>
            <a:r>
              <a:rPr sz="1650" b="1" i="0">
                <a:solidFill>
                  <a:srgbClr val="202638"/>
                </a:solidFill>
                <a:latin typeface="Blinker"/>
                <a:ea typeface="Blinker"/>
                <a:cs typeface="Blinker"/>
              </a:rPr>
              <a:t>Top-3 explicado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E7337CF-8AC7-4152-89A3-EBC211EA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2100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 i="0">
                <a:solidFill>
                  <a:srgbClr val="7D55E8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7D55E8"/>
                </a:solidFill>
                <a:latin typeface="Oswald"/>
                <a:ea typeface="Oswald"/>
                <a:cs typeface="Oswald"/>
              </a:defRPr>
            </a:pPr>
            <a:r>
              <a:rPr sz="1050" b="1" i="0">
                <a:solidFill>
                  <a:srgbClr val="7D55E8"/>
                </a:solidFill>
                <a:latin typeface="Oswald"/>
                <a:ea typeface="Oswald"/>
                <a:cs typeface="Oswald"/>
              </a:rPr>
              <a:t>Web · kiosko · meseros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2F409C-9B57-4C9F-A11D-26C1CC80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960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750" b="1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pPr>
            <a:r>
              <a:rPr sz="750" b="1" i="0">
                <a:solidFill>
                  <a:srgbClr val="5E6676"/>
                </a:solidFill>
                <a:latin typeface="Oswald"/>
                <a:ea typeface="Oswald"/>
                <a:cs typeface="Oswald"/>
              </a:rPr>
              <a:t>MAESTRÍA · SISTEMA DE COMIDAS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AD6D9B2-0B7B-4DF7-9D20-512DF63B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75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r">
              <a:defRPr sz="75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pPr>
            <a:r>
              <a:rPr sz="750" b="0" i="0">
                <a:solidFill>
                  <a:srgbClr val="5E6676"/>
                </a:solidFill>
                <a:latin typeface="Oswald"/>
                <a:ea typeface="Oswald"/>
                <a:cs typeface="Oswald"/>
              </a:rPr>
              <a:t>PRESENTACIÓN INDIVIDUAL · 5 MINUTOS</a:t>
            </a:r>
          </a:p>
        </p:txBody>
      </p:sp>
    </p:spTree>
    <p:extLst>
      <p:ext uri="{BB962C8B-B14F-4D97-AF65-F5344CB8AC3E}">
        <p14:creationId xmlns:p14="http://schemas.microsoft.com/office/powerpoint/2010/main" val="209433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C446FF2-EBE1-46B1-BBB7-C8C61821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25CAB4-91A6-423C-929B-E0DC30E5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-400050"/>
            <a:ext cx="1762125" cy="1104900"/>
          </a:xfrm>
          <a:custGeom xmlns:a="http://schemas.openxmlformats.org/drawingml/2006/main">
            <a:pathLst>
              <a:path w="1762125" h="1104900">
                <a:moveTo>
                  <a:pt x="0" y="0"/>
                </a:moveTo>
                <a:lnTo>
                  <a:pt x="1762125" y="0"/>
                </a:lnTo>
                <a:lnTo>
                  <a:pt x="1333500" y="1104900"/>
                </a:lnTo>
                <a:lnTo>
                  <a:pt x="476250" y="1104900"/>
                </a:lnTo>
                <a:close/>
              </a:path>
            </a:pathLst>
          </a:custGeom>
          <a:solidFill xmlns:a="http://schemas.openxmlformats.org/drawingml/2006/main">
            <a:srgbClr val="7D55E8"/>
          </a:solidFill>
          <a:ln xmlns:a="http://schemas.openxmlformats.org/drawingml/2006/main" w="9525">
            <a:solidFill>
              <a:srgbClr val="7D55E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EDC114-789D-46E4-85C9-3040A3A9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6248400"/>
            <a:ext cx="1714500" cy="914400"/>
          </a:xfrm>
          <a:custGeom xmlns:a="http://schemas.openxmlformats.org/drawingml/2006/main">
            <a:pathLst>
              <a:path w="1714500" h="914400">
                <a:moveTo>
                  <a:pt x="400050" y="0"/>
                </a:moveTo>
                <a:lnTo>
                  <a:pt x="1314450" y="0"/>
                </a:lnTo>
                <a:lnTo>
                  <a:pt x="1714500" y="914400"/>
                </a:lnTo>
                <a:lnTo>
                  <a:pt x="0" y="914400"/>
                </a:lnTo>
                <a:close/>
              </a:path>
            </a:pathLst>
          </a:custGeom>
          <a:solidFill xmlns:a="http://schemas.openxmlformats.org/drawingml/2006/main">
            <a:srgbClr val="16B8E5"/>
          </a:solidFill>
          <a:ln xmlns:a="http://schemas.openxmlformats.org/drawingml/2006/main" w="9525">
            <a:solidFill>
              <a:srgbClr val="16B8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E34908-44B4-4327-B535-5F6AB289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29200"/>
            <a:ext cx="1619250" cy="1619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BF020B-871F-4FDB-9629-17961C19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914900"/>
            <a:ext cx="1847850" cy="1847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D55E8">
                <a:alpha val="4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9AA3EA-B7F6-4349-89AA-7E05D2E1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66750"/>
            <a:ext cx="2095500" cy="2476500"/>
          </a:xfrm>
          <a:custGeom xmlns:a="http://schemas.openxmlformats.org/drawingml/2006/main">
            <a:pathLst>
              <a:path w="2095500" h="2476500">
                <a:moveTo>
                  <a:pt x="762000" y="0"/>
                </a:moveTo>
                <a:lnTo>
                  <a:pt x="2095500" y="0"/>
                </a:lnTo>
                <a:lnTo>
                  <a:pt x="2095500" y="1428750"/>
                </a:lnTo>
                <a:lnTo>
                  <a:pt x="1066800" y="2476500"/>
                </a:lnTo>
                <a:lnTo>
                  <a:pt x="0" y="2476500"/>
                </a:lnTo>
                <a:lnTo>
                  <a:pt x="0" y="11049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B8E5">
                <a:alpha val="46667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9D92B8-46F4-483F-86EC-9B3485F9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8102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55E8"/>
          </a:solidFill>
          <a:ln xmlns:a="http://schemas.openxmlformats.org/drawingml/2006/main" w="0">
            <a:solidFill>
              <a:srgbClr val="7D55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960886-20FB-4E9A-9CBC-339BF0AE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160" y="651071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55E8"/>
          </a:solidFill>
          <a:ln xmlns:a="http://schemas.openxmlformats.org/drawingml/2006/main" w="0">
            <a:solidFill>
              <a:srgbClr val="7D55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E7CDA2-F30C-4307-A4A5-F1F3CC2E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008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55E8"/>
          </a:solidFill>
          <a:ln xmlns:a="http://schemas.openxmlformats.org/drawingml/2006/main" w="0">
            <a:solidFill>
              <a:srgbClr val="7D55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A915E2-B0A0-498E-B1B1-583ED1BF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40" y="651071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55E8"/>
          </a:solidFill>
          <a:ln xmlns:a="http://schemas.openxmlformats.org/drawingml/2006/main" w="0">
            <a:solidFill>
              <a:srgbClr val="7D55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39BF5C-C5C1-418D-BBCB-A8693607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" y="58102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55E8"/>
          </a:solidFill>
          <a:ln xmlns:a="http://schemas.openxmlformats.org/drawingml/2006/main" w="0">
            <a:solidFill>
              <a:srgbClr val="7D55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46ADDC-8039-4407-B8A7-76C60BFE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40" y="510979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55E8"/>
          </a:solidFill>
          <a:ln xmlns:a="http://schemas.openxmlformats.org/drawingml/2006/main" w="0">
            <a:solidFill>
              <a:srgbClr val="7D55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99422E-D87E-4BB5-BF84-A9F708C9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196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55E8"/>
          </a:solidFill>
          <a:ln xmlns:a="http://schemas.openxmlformats.org/drawingml/2006/main" w="0">
            <a:solidFill>
              <a:srgbClr val="7D55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6C3F0B-62C3-4DD4-A5D8-C2EE586C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160" y="510979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55E8"/>
          </a:solidFill>
          <a:ln xmlns:a="http://schemas.openxmlformats.org/drawingml/2006/main" w="0">
            <a:solidFill>
              <a:srgbClr val="7D55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4A73F-091C-4B80-832C-B6412173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 i="0">
                <a:solidFill>
                  <a:srgbClr val="7D55E8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7D55E8"/>
                </a:solidFill>
                <a:latin typeface="Oswald"/>
                <a:ea typeface="Oswald"/>
                <a:cs typeface="Oswald"/>
              </a:defRPr>
            </a:pPr>
            <a:r>
              <a:rPr sz="1050" b="1" i="0">
                <a:solidFill>
                  <a:srgbClr val="7D55E8"/>
                </a:solidFill>
                <a:latin typeface="Oswald"/>
                <a:ea typeface="Oswald"/>
                <a:cs typeface="Oswald"/>
              </a:rPr>
              <a:t>01 / CONTEXTO Y SOLUCIÓN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7D7710-E375-46E2-A37F-FD1C05D5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200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85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defPPr>
          </a:lstStyle>
          <a:p xmlns:a="http://schemas.openxmlformats.org/drawingml/2006/main">
            <a:pPr algn="l">
              <a:defRPr sz="285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pPr>
            <a:r>
              <a:rPr sz="2850" b="1" i="0">
                <a:solidFill>
                  <a:srgbClr val="202638"/>
                </a:solidFill>
                <a:latin typeface="Blinker"/>
                <a:ea typeface="Blinker"/>
                <a:cs typeface="Blinker"/>
              </a:rPr>
              <a:t>Una frase, un plato compatible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3D773E-75E6-43A8-B9C5-C93C1B62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962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pPr>
            <a:r>
              <a:rPr sz="1350" b="0" i="0">
                <a:solidFill>
                  <a:srgbClr val="5E6676"/>
                </a:solidFill>
                <a:latin typeface="Oswald"/>
                <a:ea typeface="Oswald"/>
                <a:cs typeface="Oswald"/>
              </a:rPr>
              <a:t>La interfaz convierte una solicitud cotidiana en una búsqueda de menú útil.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92761F-4300-4BDD-98D5-884CD59A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263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118C85-910B-4967-B638-A033F838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050" b="1" i="0">
                <a:solidFill>
                  <a:srgbClr val="202638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r">
              <a:defRPr sz="1050" b="1" i="0">
                <a:solidFill>
                  <a:srgbClr val="202638"/>
                </a:solidFill>
                <a:latin typeface="Oswald"/>
                <a:ea typeface="Oswald"/>
                <a:cs typeface="Oswald"/>
              </a:defRPr>
            </a:pPr>
            <a:r>
              <a:rPr sz="1050" b="1" i="0">
                <a:solidFill>
                  <a:srgbClr val="202638"/>
                </a:solidFill>
                <a:latin typeface="Oswald"/>
                <a:ea typeface="Oswald"/>
                <a:cs typeface="Oswald"/>
              </a:rPr>
              <a:t>FOOD AI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5D502A-6448-42EA-9612-5AEA6E0F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4095750" cy="30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202638"/>
          </a:solidFill>
          <a:ln xmlns:a="http://schemas.openxmlformats.org/drawingml/2006/main" w="0">
            <a:solidFill>
              <a:srgbClr val="20263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0C3751-04D3-4034-AE1E-B2FFEF76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1" i="0">
                <a:solidFill>
                  <a:srgbClr val="16B8E5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6B8E5"/>
                </a:solidFill>
                <a:latin typeface="Oswald"/>
                <a:ea typeface="Oswald"/>
                <a:cs typeface="Oswald"/>
              </a:defRPr>
            </a:pPr>
            <a:r>
              <a:rPr sz="1200" b="1" i="0">
                <a:solidFill>
                  <a:srgbClr val="16B8E5"/>
                </a:solidFill>
                <a:latin typeface="Oswald"/>
                <a:ea typeface="Oswald"/>
                <a:cs typeface="Oswald"/>
              </a:rPr>
              <a:t>Problema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3CB781-E2B8-4DE9-A05A-B27E0535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09900"/>
            <a:ext cx="323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75" b="1" i="0">
                <a:solidFill>
                  <a:srgbClr val="FFFFFF"/>
                </a:solidFill>
                <a:latin typeface="Blinker"/>
                <a:ea typeface="Blinker"/>
                <a:cs typeface="Blinker"/>
              </a:defRPr>
            </a:defPPr>
          </a:lstStyle>
          <a:p xmlns:a="http://schemas.openxmlformats.org/drawingml/2006/main">
            <a:pPr algn="l">
              <a:defRPr sz="2175" b="1" i="0">
                <a:solidFill>
                  <a:srgbClr val="FFFFFF"/>
                </a:solidFill>
                <a:latin typeface="Blinker"/>
                <a:ea typeface="Blinker"/>
                <a:cs typeface="Blinker"/>
              </a:defRPr>
            </a:pPr>
            <a:r>
              <a:rPr sz="2175" b="1" i="0">
                <a:solidFill>
                  <a:srgbClr val="FFFFFF"/>
                </a:solidFill>
                <a:latin typeface="Blinker"/>
                <a:ea typeface="Blinker"/>
                <a:cs typeface="Blinker"/>
              </a:rPr>
              <a:t>Los menús digitales obligan a comparar categorías, ingredientes y filtros manualmente.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28FFFC-4438-48AB-8FB2-9C2AF7DB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3086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 i="0">
                <a:solidFill>
                  <a:srgbClr val="C7D0DC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C7D0DC"/>
                </a:solidFill>
                <a:latin typeface="Oswald"/>
                <a:ea typeface="Oswald"/>
                <a:cs typeface="Oswald"/>
              </a:defRPr>
            </a:pPr>
            <a:r>
              <a:rPr sz="1275" b="0" i="0">
                <a:solidFill>
                  <a:srgbClr val="C7D0DC"/>
                </a:solidFill>
                <a:latin typeface="Oswald"/>
                <a:ea typeface="Oswald"/>
                <a:cs typeface="Oswald"/>
              </a:rPr>
              <a:t>La consulta natural reduce fricción para web, kiosko y aplicación de meseros.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F4B36F-FACB-4C14-BF22-AF0D5FF2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 i="1">
                <a:solidFill>
                  <a:srgbClr val="16B8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 i="1">
                <a:solidFill>
                  <a:srgbClr val="16B8E5"/>
                </a:solidFill>
                <a:latin typeface="Arial"/>
                <a:ea typeface="Arial"/>
                <a:cs typeface="Arial"/>
              </a:defRPr>
            </a:pPr>
            <a:r>
              <a:rPr sz="975" b="0" i="1">
                <a:solidFill>
                  <a:srgbClr val="16B8E5"/>
                </a:solidFill>
                <a:latin typeface="Arial"/>
                <a:ea typeface="Arial"/>
                <a:cs typeface="Arial"/>
              </a:rPr>
              <a:t>"Algo vegetariano, sin lactosa y menor a Bs 50"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9B72E5-A21B-4BBC-B54A-4AE63A89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266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D55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911A6D-CABA-469E-91C8-8BAF9F98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3717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1" i="0">
                <a:solidFill>
                  <a:srgbClr val="7D55E8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7D55E8"/>
                </a:solidFill>
                <a:latin typeface="Oswald"/>
                <a:ea typeface="Oswald"/>
                <a:cs typeface="Oswald"/>
              </a:defRPr>
            </a:pPr>
            <a:r>
              <a:rPr sz="1125" b="1" i="0">
                <a:solidFill>
                  <a:srgbClr val="7D55E8"/>
                </a:solidFill>
                <a:latin typeface="Oswald"/>
                <a:ea typeface="Oswald"/>
                <a:cs typeface="Oswald"/>
              </a:rPr>
              <a:t>01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E373D5-7552-4F33-8BA9-105C5AEB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764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pPr>
            <a:r>
              <a:rPr sz="1500" b="1" i="0">
                <a:solidFill>
                  <a:srgbClr val="202638"/>
                </a:solidFill>
                <a:latin typeface="Blinker"/>
                <a:ea typeface="Blinker"/>
                <a:cs typeface="Blinker"/>
              </a:rPr>
              <a:t>Entrada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E48E8D-760E-44C7-A6DF-B3B0D088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336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pPr>
            <a:r>
              <a:rPr sz="1200" b="0" i="0">
                <a:solidFill>
                  <a:srgbClr val="5E6676"/>
                </a:solidFill>
                <a:latin typeface="Oswald"/>
                <a:ea typeface="Oswald"/>
                <a:cs typeface="Oswald"/>
              </a:rPr>
              <a:t>Texto o voz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51021A-E7E1-4A81-A1F5-BDC4D4AD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6765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5537F7-D34C-4D9A-BC50-D01DEFB8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914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D55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AF4EC8-C3ED-4A37-BDBB-EAA84046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194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1" i="0">
                <a:solidFill>
                  <a:srgbClr val="7D55E8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7D55E8"/>
                </a:solidFill>
                <a:latin typeface="Oswald"/>
                <a:ea typeface="Oswald"/>
                <a:cs typeface="Oswald"/>
              </a:defRPr>
            </a:pPr>
            <a:r>
              <a:rPr sz="1125" b="1" i="0">
                <a:solidFill>
                  <a:srgbClr val="7D55E8"/>
                </a:solidFill>
                <a:latin typeface="Oswald"/>
                <a:ea typeface="Oswald"/>
                <a:cs typeface="Oswald"/>
              </a:rPr>
              <a:t>02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30B98F-6B2A-4A18-B188-EA73C09E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241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pPr>
            <a:r>
              <a:rPr sz="1500" b="1" i="0">
                <a:solidFill>
                  <a:srgbClr val="202638"/>
                </a:solidFill>
                <a:latin typeface="Blinker"/>
                <a:ea typeface="Blinker"/>
                <a:cs typeface="Blinker"/>
              </a:rPr>
              <a:t>Interpretación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C0A43E-D910-44D3-B4C0-F4D764BB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813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pPr>
            <a:r>
              <a:rPr sz="1200" b="0" i="0">
                <a:solidFill>
                  <a:srgbClr val="5E6676"/>
                </a:solidFill>
                <a:latin typeface="Oswald"/>
                <a:ea typeface="Oswald"/>
                <a:cs typeface="Oswald"/>
              </a:rPr>
              <a:t>Preferencias y restricciones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E840D8-67FA-4EC7-8AB0-6883D3DE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3242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F0F973-F4DD-42B7-A5CE-56BE6937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562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08A2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558AEE3-7856-4B62-8604-AD72FD55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6671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1" i="0">
                <a:solidFill>
                  <a:srgbClr val="E08A22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E08A22"/>
                </a:solidFill>
                <a:latin typeface="Oswald"/>
                <a:ea typeface="Oswald"/>
                <a:cs typeface="Oswald"/>
              </a:defRPr>
            </a:pPr>
            <a:r>
              <a:rPr sz="1125" b="1" i="0">
                <a:solidFill>
                  <a:srgbClr val="E08A22"/>
                </a:solidFill>
                <a:latin typeface="Oswald"/>
                <a:ea typeface="Oswald"/>
                <a:cs typeface="Oswald"/>
              </a:rPr>
              <a:t>03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7787DA-1547-4684-B624-A8B37658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718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pPr>
            <a:r>
              <a:rPr sz="1500" b="1" i="0">
                <a:solidFill>
                  <a:srgbClr val="202638"/>
                </a:solidFill>
                <a:latin typeface="Blinker"/>
                <a:ea typeface="Blinker"/>
                <a:cs typeface="Blinker"/>
              </a:rPr>
              <a:t>Seguridad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04DD7A-9711-4514-B5F6-FE6196FA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290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pPr>
            <a:r>
              <a:rPr sz="1200" b="0" i="0">
                <a:solidFill>
                  <a:srgbClr val="5E6676"/>
                </a:solidFill>
                <a:latin typeface="Oswald"/>
                <a:ea typeface="Oswald"/>
                <a:cs typeface="Oswald"/>
              </a:rPr>
              <a:t>Filtro de disponibilidad y alérgenos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62D076-566F-4751-9F6B-2183DB18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9719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211B10-E6A7-436F-A13A-83EEB76A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210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D55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F07256B-282E-4E9C-9FD6-39AA304A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3148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1" i="0">
                <a:solidFill>
                  <a:srgbClr val="7D55E8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7D55E8"/>
                </a:solidFill>
                <a:latin typeface="Oswald"/>
                <a:ea typeface="Oswald"/>
                <a:cs typeface="Oswald"/>
              </a:defRPr>
            </a:pPr>
            <a:r>
              <a:rPr sz="1125" b="1" i="0">
                <a:solidFill>
                  <a:srgbClr val="7D55E8"/>
                </a:solidFill>
                <a:latin typeface="Oswald"/>
                <a:ea typeface="Oswald"/>
                <a:cs typeface="Oswald"/>
              </a:rPr>
              <a:t>04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0034DB4-B56D-495A-BB9A-636B8275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195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pPr>
            <a:r>
              <a:rPr sz="1500" b="1" i="0">
                <a:solidFill>
                  <a:srgbClr val="202638"/>
                </a:solidFill>
                <a:latin typeface="Blinker"/>
                <a:ea typeface="Blinker"/>
                <a:cs typeface="Blinker"/>
              </a:rPr>
              <a:t>Ranking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B298B08-A197-4F96-B1DA-10BEF09E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pPr>
            <a:r>
              <a:rPr sz="1200" b="0" i="0">
                <a:solidFill>
                  <a:srgbClr val="5E6676"/>
                </a:solidFill>
                <a:latin typeface="Oswald"/>
                <a:ea typeface="Oswald"/>
                <a:cs typeface="Oswald"/>
              </a:rPr>
              <a:t>Embeddings + coincidencias + popularidad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A835804-6EBC-415D-88C8-49CAF360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619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2633C8E-7DE3-4202-92F5-62BE534A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857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D55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58AD708-3648-472A-842C-1D7E05E3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9625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1" i="0">
                <a:solidFill>
                  <a:srgbClr val="7D55E8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7D55E8"/>
                </a:solidFill>
                <a:latin typeface="Oswald"/>
                <a:ea typeface="Oswald"/>
                <a:cs typeface="Oswald"/>
              </a:defRPr>
            </a:pPr>
            <a:r>
              <a:rPr sz="1125" b="1" i="0">
                <a:solidFill>
                  <a:srgbClr val="7D55E8"/>
                </a:solidFill>
                <a:latin typeface="Oswald"/>
                <a:ea typeface="Oswald"/>
                <a:cs typeface="Oswald"/>
              </a:rPr>
              <a:t>05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B261EFC-FA6D-4AB2-9273-3F225AC9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672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pPr>
            <a:r>
              <a:rPr sz="1500" b="1" i="0">
                <a:solidFill>
                  <a:srgbClr val="202638"/>
                </a:solidFill>
                <a:latin typeface="Blinker"/>
                <a:ea typeface="Blinker"/>
                <a:cs typeface="Blinker"/>
              </a:rPr>
              <a:t>Resultado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E692F51-1AB4-49BF-A0E4-58BF70BA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244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pPr>
            <a:r>
              <a:rPr sz="1200" b="0" i="0">
                <a:solidFill>
                  <a:srgbClr val="5E6676"/>
                </a:solidFill>
                <a:latin typeface="Oswald"/>
                <a:ea typeface="Oswald"/>
                <a:cs typeface="Oswald"/>
              </a:rPr>
              <a:t>Tres platos explicados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4B67BD5-5BF5-4F53-B8FD-D2369EFF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600700"/>
            <a:ext cx="5095875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7D55E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7B33D42-B5EA-4C63-8C54-39F8B921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705475"/>
            <a:ext cx="4619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1" i="0">
                <a:solidFill>
                  <a:srgbClr val="7D55E8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7D55E8"/>
                </a:solidFill>
                <a:latin typeface="Oswald"/>
                <a:ea typeface="Oswald"/>
                <a:cs typeface="Oswald"/>
              </a:defRPr>
            </a:pPr>
            <a:r>
              <a:rPr sz="1125" b="1" i="0">
                <a:solidFill>
                  <a:srgbClr val="7D55E8"/>
                </a:solidFill>
                <a:latin typeface="Oswald"/>
                <a:ea typeface="Oswald"/>
                <a:cs typeface="Oswald"/>
              </a:rPr>
              <a:t>La IA actúa en la interpretación semántica y el ordenamiento.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B8294DD-D2AB-475D-86BB-54D64302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960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750" b="1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pPr>
            <a:r>
              <a:rPr sz="750" b="1" i="0">
                <a:solidFill>
                  <a:srgbClr val="5E6676"/>
                </a:solidFill>
                <a:latin typeface="Oswald"/>
                <a:ea typeface="Oswald"/>
                <a:cs typeface="Oswald"/>
              </a:rPr>
              <a:t>MAESTRÍA · SISTEMA DE COMIDAS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F5DFE28-3495-4058-A580-DD614223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75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r">
              <a:defRPr sz="75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pPr>
            <a:r>
              <a:rPr sz="750" b="0" i="0">
                <a:solidFill>
                  <a:srgbClr val="5E6676"/>
                </a:solidFill>
                <a:latin typeface="Oswald"/>
                <a:ea typeface="Oswald"/>
                <a:cs typeface="Oswald"/>
              </a:rPr>
              <a:t>PROYECTO FINAL DE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203380342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CCBE595-86F3-4DAA-930A-F7AE785C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1B3E34-F6F1-4411-AF74-82BC82AC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-400050"/>
            <a:ext cx="1762125" cy="1104900"/>
          </a:xfrm>
          <a:custGeom xmlns:a="http://schemas.openxmlformats.org/drawingml/2006/main">
            <a:pathLst>
              <a:path w="1762125" h="1104900">
                <a:moveTo>
                  <a:pt x="0" y="0"/>
                </a:moveTo>
                <a:lnTo>
                  <a:pt x="1762125" y="0"/>
                </a:lnTo>
                <a:lnTo>
                  <a:pt x="1333500" y="1104900"/>
                </a:lnTo>
                <a:lnTo>
                  <a:pt x="476250" y="1104900"/>
                </a:lnTo>
                <a:close/>
              </a:path>
            </a:pathLst>
          </a:custGeom>
          <a:solidFill xmlns:a="http://schemas.openxmlformats.org/drawingml/2006/main">
            <a:srgbClr val="16B8E5"/>
          </a:solidFill>
          <a:ln xmlns:a="http://schemas.openxmlformats.org/drawingml/2006/main" w="9525">
            <a:solidFill>
              <a:srgbClr val="16B8E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F1A51D-6BC6-47F1-966A-CA56A30B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6248400"/>
            <a:ext cx="1714500" cy="914400"/>
          </a:xfrm>
          <a:custGeom xmlns:a="http://schemas.openxmlformats.org/drawingml/2006/main">
            <a:pathLst>
              <a:path w="1714500" h="914400">
                <a:moveTo>
                  <a:pt x="400050" y="0"/>
                </a:moveTo>
                <a:lnTo>
                  <a:pt x="1314450" y="0"/>
                </a:lnTo>
                <a:lnTo>
                  <a:pt x="1714500" y="914400"/>
                </a:lnTo>
                <a:lnTo>
                  <a:pt x="0" y="914400"/>
                </a:lnTo>
                <a:close/>
              </a:path>
            </a:pathLst>
          </a:custGeom>
          <a:solidFill xmlns:a="http://schemas.openxmlformats.org/drawingml/2006/main">
            <a:srgbClr val="7D55E8"/>
          </a:solidFill>
          <a:ln xmlns:a="http://schemas.openxmlformats.org/drawingml/2006/main" w="9525">
            <a:solidFill>
              <a:srgbClr val="7D55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769105-5AE0-4D3A-8BAE-6338FB6A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29200"/>
            <a:ext cx="1619250" cy="1619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6C02EE-6025-4F29-A7F6-402D4439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914900"/>
            <a:ext cx="1847850" cy="1847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B8E5">
                <a:alpha val="4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34A484-46D8-4416-B2C2-F0302813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66750"/>
            <a:ext cx="2095500" cy="2476500"/>
          </a:xfrm>
          <a:custGeom xmlns:a="http://schemas.openxmlformats.org/drawingml/2006/main">
            <a:pathLst>
              <a:path w="2095500" h="2476500">
                <a:moveTo>
                  <a:pt x="762000" y="0"/>
                </a:moveTo>
                <a:lnTo>
                  <a:pt x="2095500" y="0"/>
                </a:lnTo>
                <a:lnTo>
                  <a:pt x="2095500" y="1428750"/>
                </a:lnTo>
                <a:lnTo>
                  <a:pt x="1066800" y="2476500"/>
                </a:lnTo>
                <a:lnTo>
                  <a:pt x="0" y="2476500"/>
                </a:lnTo>
                <a:lnTo>
                  <a:pt x="0" y="11049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D55E8">
                <a:alpha val="46667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51F3F2-A1B7-482B-A00D-3A09C0DA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8102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E5"/>
          </a:solidFill>
          <a:ln xmlns:a="http://schemas.openxmlformats.org/drawingml/2006/main" w="0">
            <a:solidFill>
              <a:srgbClr val="16B8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EAC9CB-AE2F-4CDE-9BC6-53933F4F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160" y="651071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E5"/>
          </a:solidFill>
          <a:ln xmlns:a="http://schemas.openxmlformats.org/drawingml/2006/main" w="0">
            <a:solidFill>
              <a:srgbClr val="16B8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9F30F6-26B7-4948-9C10-D19401EE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008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E5"/>
          </a:solidFill>
          <a:ln xmlns:a="http://schemas.openxmlformats.org/drawingml/2006/main" w="0">
            <a:solidFill>
              <a:srgbClr val="16B8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697A41-3D27-4BDC-AD03-45C97239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40" y="651071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E5"/>
          </a:solidFill>
          <a:ln xmlns:a="http://schemas.openxmlformats.org/drawingml/2006/main" w="0">
            <a:solidFill>
              <a:srgbClr val="16B8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CE7C44-1746-479F-8C15-9D25C8AF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" y="58102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E5"/>
          </a:solidFill>
          <a:ln xmlns:a="http://schemas.openxmlformats.org/drawingml/2006/main" w="0">
            <a:solidFill>
              <a:srgbClr val="16B8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27E0E4-4239-474D-905A-262C9E45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40" y="510979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E5"/>
          </a:solidFill>
          <a:ln xmlns:a="http://schemas.openxmlformats.org/drawingml/2006/main" w="0">
            <a:solidFill>
              <a:srgbClr val="16B8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D716FD-2DE6-4EB8-BBBA-0CF9032C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196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E5"/>
          </a:solidFill>
          <a:ln xmlns:a="http://schemas.openxmlformats.org/drawingml/2006/main" w="0">
            <a:solidFill>
              <a:srgbClr val="16B8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28757C-74B5-43E5-8E3A-5E92D519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160" y="510979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E5"/>
          </a:solidFill>
          <a:ln xmlns:a="http://schemas.openxmlformats.org/drawingml/2006/main" w="0">
            <a:solidFill>
              <a:srgbClr val="16B8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424A79-E5CB-42E9-B64D-5E76848D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 i="0">
                <a:solidFill>
                  <a:srgbClr val="16B8E5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16B8E5"/>
                </a:solidFill>
                <a:latin typeface="Oswald"/>
                <a:ea typeface="Oswald"/>
                <a:cs typeface="Oswald"/>
              </a:defRPr>
            </a:pPr>
            <a:r>
              <a:rPr sz="1050" b="1" i="0">
                <a:solidFill>
                  <a:srgbClr val="16B8E5"/>
                </a:solidFill>
                <a:latin typeface="Oswald"/>
                <a:ea typeface="Oswald"/>
                <a:cs typeface="Oswald"/>
              </a:rPr>
              <a:t>02 / DISEÑO EXPERIMENTAL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025FDA-F863-43EA-A083-F0DEEA54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200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85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defPPr>
          </a:lstStyle>
          <a:p xmlns:a="http://schemas.openxmlformats.org/drawingml/2006/main">
            <a:pPr algn="l">
              <a:defRPr sz="285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pPr>
            <a:r>
              <a:rPr sz="2850" b="1" i="0">
                <a:solidFill>
                  <a:srgbClr val="202638"/>
                </a:solidFill>
                <a:latin typeface="Blinker"/>
                <a:ea typeface="Blinker"/>
                <a:cs typeface="Blinker"/>
              </a:rPr>
              <a:t>Datos, línea base y modelo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04284C-05DF-4FBB-8A2A-8B0D5BCC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962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pPr>
            <a:r>
              <a:rPr sz="1350" b="0" i="0">
                <a:solidFill>
                  <a:srgbClr val="5E6676"/>
                </a:solidFill>
                <a:latin typeface="Oswald"/>
                <a:ea typeface="Oswald"/>
                <a:cs typeface="Oswald"/>
              </a:rPr>
              <a:t>Particiones separadas para ajustar, validar y probar sin contaminar la evaluación.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B4FAC2-69FA-440D-9E38-FC640578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263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86AE47-A9E6-4E2B-9E9E-E9D8E92D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050" b="1" i="0">
                <a:solidFill>
                  <a:srgbClr val="202638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r">
              <a:defRPr sz="1050" b="1" i="0">
                <a:solidFill>
                  <a:srgbClr val="202638"/>
                </a:solidFill>
                <a:latin typeface="Oswald"/>
                <a:ea typeface="Oswald"/>
                <a:cs typeface="Oswald"/>
              </a:defRPr>
            </a:pPr>
            <a:r>
              <a:rPr sz="1050" b="1" i="0">
                <a:solidFill>
                  <a:srgbClr val="202638"/>
                </a:solidFill>
                <a:latin typeface="Oswald"/>
                <a:ea typeface="Oswald"/>
                <a:cs typeface="Oswald"/>
              </a:rPr>
              <a:t>FOOD AI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BC2892-08E8-49D7-A2B4-D4C6230E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3314700" cy="316230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EAF9FD"/>
          </a:solidFill>
          <a:ln xmlns:a="http://schemas.openxmlformats.org/drawingml/2006/main" w="9525">
            <a:solidFill>
              <a:srgbClr val="16B8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AF3892-ACA0-419F-870F-3ADD737A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384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 i="0">
                <a:solidFill>
                  <a:srgbClr val="087EAE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087EAE"/>
                </a:solidFill>
                <a:latin typeface="Oswald"/>
                <a:ea typeface="Oswald"/>
                <a:cs typeface="Oswald"/>
              </a:defRPr>
            </a:pPr>
            <a:r>
              <a:rPr sz="1125" b="1" i="0">
                <a:solidFill>
                  <a:srgbClr val="087EAE"/>
                </a:solidFill>
                <a:latin typeface="Oswald"/>
                <a:ea typeface="Oswald"/>
                <a:cs typeface="Oswald"/>
              </a:rPr>
              <a:t>DATASET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B1F0F8-FD55-4BCA-ADD2-B8359549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123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435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defPPr>
          </a:lstStyle>
          <a:p xmlns:a="http://schemas.openxmlformats.org/drawingml/2006/main">
            <a:pPr algn="l">
              <a:defRPr sz="435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pPr>
            <a:r>
              <a:rPr sz="4350" b="1" i="0">
                <a:solidFill>
                  <a:srgbClr val="202638"/>
                </a:solidFill>
                <a:latin typeface="Blinker"/>
                <a:ea typeface="Blinker"/>
                <a:cs typeface="Blinker"/>
              </a:rPr>
              <a:t>80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9BFFBB-644E-48C6-BFFE-74EC90BA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670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pPr>
            <a:r>
              <a:rPr sz="1725" b="1" i="0">
                <a:solidFill>
                  <a:srgbClr val="5E6676"/>
                </a:solidFill>
                <a:latin typeface="Oswald"/>
                <a:ea typeface="Oswald"/>
                <a:cs typeface="Oswald"/>
              </a:rPr>
              <a:t>platos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732C1F-2E58-493C-8F55-5A52FCB8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33800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 i="0">
                <a:solidFill>
                  <a:srgbClr val="2026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20263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202638"/>
                </a:solidFill>
                <a:latin typeface="Arial"/>
                <a:ea typeface="Arial"/>
                <a:cs typeface="Arial"/>
              </a:rPr>
              <a:t>100 consultas anotadas</a:t>
            </a:r>
          </a:p>
          <a:p xmlns:a="http://schemas.openxmlformats.org/drawingml/2006/main">
            <a:pPr algn="l">
              <a:defRPr sz="1200" b="0" i="0">
                <a:solidFill>
                  <a:srgbClr val="20263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202638"/>
                </a:solidFill>
                <a:latin typeface="Arial"/>
                <a:ea typeface="Arial"/>
                <a:cs typeface="Arial"/>
              </a:rPr>
              <a:t>20 ajuste · 20 validación</a:t>
            </a:r>
          </a:p>
          <a:p xmlns:a="http://schemas.openxmlformats.org/drawingml/2006/main">
            <a:pPr algn="l">
              <a:defRPr sz="1200" b="0" i="0">
                <a:solidFill>
                  <a:srgbClr val="20263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202638"/>
                </a:solidFill>
                <a:latin typeface="Arial"/>
                <a:ea typeface="Arial"/>
                <a:cs typeface="Arial"/>
              </a:rPr>
              <a:t>60 prueba · semilla 20261010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3743AA-5B56-4E59-9DDE-B5358FDE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62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 i="0">
                <a:solidFill>
                  <a:srgbClr val="087EAE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087EAE"/>
                </a:solidFill>
                <a:latin typeface="Oswald"/>
                <a:ea typeface="Oswald"/>
                <a:cs typeface="Oswald"/>
              </a:defRPr>
            </a:pPr>
            <a:r>
              <a:rPr sz="1125" b="1" i="0">
                <a:solidFill>
                  <a:srgbClr val="087EAE"/>
                </a:solidFill>
                <a:latin typeface="Oswald"/>
                <a:ea typeface="Oswald"/>
                <a:cs typeface="Oswald"/>
              </a:rPr>
              <a:t>Sintético, compartible y reproducible.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F90796-B5B1-4D2D-A64F-53C6A302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33600"/>
            <a:ext cx="3314700" cy="316230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BEE018-1861-4FB0-8E0B-F4EC7E64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384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 i="0">
                <a:solidFill>
                  <a:srgbClr val="E08A22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E08A22"/>
                </a:solidFill>
                <a:latin typeface="Oswald"/>
                <a:ea typeface="Oswald"/>
                <a:cs typeface="Oswald"/>
              </a:defRPr>
            </a:pPr>
            <a:r>
              <a:rPr sz="1125" b="1" i="0">
                <a:solidFill>
                  <a:srgbClr val="E08A22"/>
                </a:solidFill>
                <a:latin typeface="Oswald"/>
                <a:ea typeface="Oswald"/>
                <a:cs typeface="Oswald"/>
              </a:rPr>
              <a:t>LÍNEA BASE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B11834-5CF9-450D-B2BC-1480A04F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575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40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pPr>
            <a:r>
              <a:rPr sz="2400" b="1" i="0">
                <a:solidFill>
                  <a:srgbClr val="202638"/>
                </a:solidFill>
                <a:latin typeface="Blinker"/>
                <a:ea typeface="Blinker"/>
                <a:cs typeface="Blinker"/>
              </a:rPr>
              <a:t>Filtros +</a:t>
            </a:r>
          </a:p>
          <a:p xmlns:a="http://schemas.openxmlformats.org/drawingml/2006/main">
            <a:pPr algn="l">
              <a:defRPr sz="240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pPr>
            <a:r>
              <a:rPr sz="2400" b="1" i="0">
                <a:solidFill>
                  <a:srgbClr val="202638"/>
                </a:solidFill>
                <a:latin typeface="Blinker"/>
                <a:ea typeface="Blinker"/>
                <a:cs typeface="Blinker"/>
              </a:rPr>
              <a:t>popularidad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D6C0F4-D75F-4B61-9CD2-2DF28FAC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8620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pPr>
            <a:r>
              <a:rPr sz="1350" b="0" i="0">
                <a:solidFill>
                  <a:srgbClr val="5E6676"/>
                </a:solidFill>
                <a:latin typeface="Oswald"/>
                <a:ea typeface="Oswald"/>
                <a:cs typeface="Oswald"/>
              </a:rPr>
              <a:t>Mismos candidatos seguros. Después ordena por popularidad histórica.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735A38-D3A3-44A0-9D53-B040995A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7625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 i="0">
                <a:solidFill>
                  <a:srgbClr val="E08A22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E08A22"/>
                </a:solidFill>
                <a:latin typeface="Oswald"/>
                <a:ea typeface="Oswald"/>
                <a:cs typeface="Oswald"/>
              </a:defRPr>
            </a:pPr>
            <a:r>
              <a:rPr sz="1125" b="1" i="0">
                <a:solidFill>
                  <a:srgbClr val="E08A22"/>
                </a:solidFill>
                <a:latin typeface="Oswald"/>
                <a:ea typeface="Oswald"/>
                <a:cs typeface="Oswald"/>
              </a:rPr>
              <a:t>Comparación justa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C29131-B435-41AF-A9BE-01C93E03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33600"/>
            <a:ext cx="3505200" cy="316230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202638"/>
          </a:solidFill>
          <a:ln xmlns:a="http://schemas.openxmlformats.org/drawingml/2006/main" w="0">
            <a:solidFill>
              <a:srgbClr val="20263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CA6EC2-9013-4A75-963F-5002BE77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384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 i="0">
                <a:solidFill>
                  <a:srgbClr val="16B8E5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16B8E5"/>
                </a:solidFill>
                <a:latin typeface="Oswald"/>
                <a:ea typeface="Oswald"/>
                <a:cs typeface="Oswald"/>
              </a:defRPr>
            </a:pPr>
            <a:r>
              <a:rPr sz="1125" b="1" i="0">
                <a:solidFill>
                  <a:srgbClr val="16B8E5"/>
                </a:solidFill>
                <a:latin typeface="Oswald"/>
                <a:ea typeface="Oswald"/>
                <a:cs typeface="Oswald"/>
              </a:rPr>
              <a:t>MODELO HÍBRIDO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213F55-AB81-41C0-B374-428C6CC5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400" b="1" i="0">
                <a:solidFill>
                  <a:srgbClr val="FFFFFF"/>
                </a:solidFill>
                <a:latin typeface="Blinker"/>
                <a:ea typeface="Blinker"/>
                <a:cs typeface="Blinker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FFFFFF"/>
                </a:solidFill>
                <a:latin typeface="Blinker"/>
                <a:ea typeface="Blinker"/>
                <a:cs typeface="Blinker"/>
              </a:defRPr>
            </a:pPr>
            <a:r>
              <a:rPr sz="2400" b="1" i="0">
                <a:solidFill>
                  <a:srgbClr val="FFFFFF"/>
                </a:solidFill>
                <a:latin typeface="Blinker"/>
                <a:ea typeface="Blinker"/>
                <a:cs typeface="Blinker"/>
              </a:rPr>
              <a:t>Embeddings</a:t>
            </a:r>
          </a:p>
          <a:p xmlns:a="http://schemas.openxmlformats.org/drawingml/2006/main">
            <a:pPr algn="l">
              <a:defRPr sz="2400" b="1" i="0">
                <a:solidFill>
                  <a:srgbClr val="FFFFFF"/>
                </a:solidFill>
                <a:latin typeface="Blinker"/>
                <a:ea typeface="Blinker"/>
                <a:cs typeface="Blinker"/>
              </a:defRPr>
            </a:pPr>
            <a:r>
              <a:rPr sz="2400" b="1" i="0">
                <a:solidFill>
                  <a:srgbClr val="FFFFFF"/>
                </a:solidFill>
                <a:latin typeface="Blinker"/>
                <a:ea typeface="Blinker"/>
                <a:cs typeface="Blinker"/>
              </a:rPr>
              <a:t>multilingües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5BDB21-CECA-4BCD-8EF9-143D8599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43350"/>
            <a:ext cx="228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 i="0">
                <a:solidFill>
                  <a:srgbClr val="FFFFFF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Oswald"/>
                <a:ea typeface="Oswald"/>
                <a:cs typeface="Oswald"/>
              </a:defRPr>
            </a:pPr>
            <a:r>
              <a:rPr sz="1650" b="1" i="0">
                <a:solidFill>
                  <a:srgbClr val="FFFFFF"/>
                </a:solidFill>
                <a:latin typeface="Oswald"/>
                <a:ea typeface="Oswald"/>
                <a:cs typeface="Oswald"/>
              </a:rPr>
              <a:t>55% semántica</a:t>
            </a:r>
          </a:p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Oswald"/>
                <a:ea typeface="Oswald"/>
                <a:cs typeface="Oswald"/>
              </a:defRPr>
            </a:pPr>
            <a:r>
              <a:rPr sz="1650" b="1" i="0">
                <a:solidFill>
                  <a:srgbClr val="FFFFFF"/>
                </a:solidFill>
                <a:latin typeface="Oswald"/>
                <a:ea typeface="Oswald"/>
                <a:cs typeface="Oswald"/>
              </a:rPr>
              <a:t>25% restricciones</a:t>
            </a:r>
          </a:p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Oswald"/>
                <a:ea typeface="Oswald"/>
                <a:cs typeface="Oswald"/>
              </a:defRPr>
            </a:pPr>
            <a:r>
              <a:rPr sz="1650" b="1" i="0">
                <a:solidFill>
                  <a:srgbClr val="FFFFFF"/>
                </a:solidFill>
                <a:latin typeface="Oswald"/>
                <a:ea typeface="Oswald"/>
                <a:cs typeface="Oswald"/>
              </a:rPr>
              <a:t>20% popularidad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194817-6D75-45F1-88DE-A13AC6D4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577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0" i="0">
                <a:solidFill>
                  <a:srgbClr val="C7D0DC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050" b="0" i="0">
                <a:solidFill>
                  <a:srgbClr val="C7D0DC"/>
                </a:solidFill>
                <a:latin typeface="Oswald"/>
                <a:ea typeface="Oswald"/>
                <a:cs typeface="Oswald"/>
              </a:defRPr>
            </a:pPr>
            <a:r>
              <a:rPr sz="1050" b="0" i="0">
                <a:solidFill>
                  <a:srgbClr val="C7D0DC"/>
                </a:solidFill>
                <a:latin typeface="Oswald"/>
                <a:ea typeface="Oswald"/>
                <a:cs typeface="Oswald"/>
              </a:rPr>
              <a:t>No es un chatbot: es recuperación vectorial.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55239E-0E9B-4729-86B9-184D95FE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960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750" b="1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pPr>
            <a:r>
              <a:rPr sz="750" b="1" i="0">
                <a:solidFill>
                  <a:srgbClr val="5E6676"/>
                </a:solidFill>
                <a:latin typeface="Oswald"/>
                <a:ea typeface="Oswald"/>
                <a:cs typeface="Oswald"/>
              </a:rPr>
              <a:t>MAESTRÍA · SISTEMA DE COMIDAS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C8D745-D27D-4359-8EDB-E24A865F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75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r">
              <a:defRPr sz="75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pPr>
            <a:r>
              <a:rPr sz="750" b="0" i="0">
                <a:solidFill>
                  <a:srgbClr val="5E6676"/>
                </a:solidFill>
                <a:latin typeface="Oswald"/>
                <a:ea typeface="Oswald"/>
                <a:cs typeface="Oswald"/>
              </a:rPr>
              <a:t>PROYECTO FINAL DE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9002968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AAA2F9-B583-437A-BECE-66EEAFD6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54048A-717C-4495-8878-506FB9B2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-400050"/>
            <a:ext cx="1762125" cy="1104900"/>
          </a:xfrm>
          <a:custGeom xmlns:a="http://schemas.openxmlformats.org/drawingml/2006/main">
            <a:pathLst>
              <a:path w="1762125" h="1104900">
                <a:moveTo>
                  <a:pt x="0" y="0"/>
                </a:moveTo>
                <a:lnTo>
                  <a:pt x="1762125" y="0"/>
                </a:lnTo>
                <a:lnTo>
                  <a:pt x="1333500" y="1104900"/>
                </a:lnTo>
                <a:lnTo>
                  <a:pt x="476250" y="1104900"/>
                </a:lnTo>
                <a:close/>
              </a:path>
            </a:pathLst>
          </a:custGeom>
          <a:solidFill xmlns:a="http://schemas.openxmlformats.org/drawingml/2006/main">
            <a:srgbClr val="7D55E8"/>
          </a:solidFill>
          <a:ln xmlns:a="http://schemas.openxmlformats.org/drawingml/2006/main" w="9525">
            <a:solidFill>
              <a:srgbClr val="7D55E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04CF32-4149-4E53-81E1-B68F9DDA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6248400"/>
            <a:ext cx="1714500" cy="914400"/>
          </a:xfrm>
          <a:custGeom xmlns:a="http://schemas.openxmlformats.org/drawingml/2006/main">
            <a:pathLst>
              <a:path w="1714500" h="914400">
                <a:moveTo>
                  <a:pt x="400050" y="0"/>
                </a:moveTo>
                <a:lnTo>
                  <a:pt x="1314450" y="0"/>
                </a:lnTo>
                <a:lnTo>
                  <a:pt x="1714500" y="914400"/>
                </a:lnTo>
                <a:lnTo>
                  <a:pt x="0" y="914400"/>
                </a:lnTo>
                <a:close/>
              </a:path>
            </a:pathLst>
          </a:custGeom>
          <a:solidFill xmlns:a="http://schemas.openxmlformats.org/drawingml/2006/main">
            <a:srgbClr val="16B8E5"/>
          </a:solidFill>
          <a:ln xmlns:a="http://schemas.openxmlformats.org/drawingml/2006/main" w="9525">
            <a:solidFill>
              <a:srgbClr val="16B8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60B172-26FA-4062-A9BE-6D1AC907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29200"/>
            <a:ext cx="1619250" cy="1619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2D901-FF9F-4D61-8037-82DF64A2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914900"/>
            <a:ext cx="1847850" cy="1847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D55E8">
                <a:alpha val="4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5126E6-DF61-49FA-A3B2-C99B283A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66750"/>
            <a:ext cx="2095500" cy="2476500"/>
          </a:xfrm>
          <a:custGeom xmlns:a="http://schemas.openxmlformats.org/drawingml/2006/main">
            <a:pathLst>
              <a:path w="2095500" h="2476500">
                <a:moveTo>
                  <a:pt x="762000" y="0"/>
                </a:moveTo>
                <a:lnTo>
                  <a:pt x="2095500" y="0"/>
                </a:lnTo>
                <a:lnTo>
                  <a:pt x="2095500" y="1428750"/>
                </a:lnTo>
                <a:lnTo>
                  <a:pt x="1066800" y="2476500"/>
                </a:lnTo>
                <a:lnTo>
                  <a:pt x="0" y="2476500"/>
                </a:lnTo>
                <a:lnTo>
                  <a:pt x="0" y="11049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B8E5">
                <a:alpha val="46667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804B8E-BE03-4D1B-AEE4-5AD9E17A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8102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55E8"/>
          </a:solidFill>
          <a:ln xmlns:a="http://schemas.openxmlformats.org/drawingml/2006/main" w="0">
            <a:solidFill>
              <a:srgbClr val="7D55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A3F61D-211F-4AD8-A851-92D50E25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160" y="651071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55E8"/>
          </a:solidFill>
          <a:ln xmlns:a="http://schemas.openxmlformats.org/drawingml/2006/main" w="0">
            <a:solidFill>
              <a:srgbClr val="7D55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15C28C-FDF9-4BAD-B950-5289DAB7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008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55E8"/>
          </a:solidFill>
          <a:ln xmlns:a="http://schemas.openxmlformats.org/drawingml/2006/main" w="0">
            <a:solidFill>
              <a:srgbClr val="7D55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46ADD7-C324-4EFF-835A-3D9B7F1A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40" y="651071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55E8"/>
          </a:solidFill>
          <a:ln xmlns:a="http://schemas.openxmlformats.org/drawingml/2006/main" w="0">
            <a:solidFill>
              <a:srgbClr val="7D55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0346B4-2FCF-49F8-BC6B-B65FB389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" y="58102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55E8"/>
          </a:solidFill>
          <a:ln xmlns:a="http://schemas.openxmlformats.org/drawingml/2006/main" w="0">
            <a:solidFill>
              <a:srgbClr val="7D55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2CC0CE-EF08-4B90-8F3E-2BEF0A13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40" y="510979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55E8"/>
          </a:solidFill>
          <a:ln xmlns:a="http://schemas.openxmlformats.org/drawingml/2006/main" w="0">
            <a:solidFill>
              <a:srgbClr val="7D55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2E39D6-55C2-452A-881B-6CAC7271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196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55E8"/>
          </a:solidFill>
          <a:ln xmlns:a="http://schemas.openxmlformats.org/drawingml/2006/main" w="0">
            <a:solidFill>
              <a:srgbClr val="7D55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DF521C-2F39-4AC8-A6E7-D4AA8C09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160" y="510979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55E8"/>
          </a:solidFill>
          <a:ln xmlns:a="http://schemas.openxmlformats.org/drawingml/2006/main" w="0">
            <a:solidFill>
              <a:srgbClr val="7D55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0D5078-14D5-40BD-BA18-04CC38AF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 i="0">
                <a:solidFill>
                  <a:srgbClr val="7D55E8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7D55E8"/>
                </a:solidFill>
                <a:latin typeface="Oswald"/>
                <a:ea typeface="Oswald"/>
                <a:cs typeface="Oswald"/>
              </a:defRPr>
            </a:pPr>
            <a:r>
              <a:rPr sz="1050" b="1" i="0">
                <a:solidFill>
                  <a:srgbClr val="7D55E8"/>
                </a:solidFill>
                <a:latin typeface="Oswald"/>
                <a:ea typeface="Oswald"/>
                <a:cs typeface="Oswald"/>
              </a:rPr>
              <a:t>03 / VALIDACIÓN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80D1A8-00DB-44E0-A59D-4DF65B27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200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85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defPPr>
          </a:lstStyle>
          <a:p xmlns:a="http://schemas.openxmlformats.org/drawingml/2006/main">
            <a:pPr algn="l">
              <a:defRPr sz="285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pPr>
            <a:r>
              <a:rPr sz="2850" b="1" i="0">
                <a:solidFill>
                  <a:srgbClr val="202638"/>
                </a:solidFill>
                <a:latin typeface="Blinker"/>
                <a:ea typeface="Blinker"/>
                <a:cs typeface="Blinker"/>
              </a:rPr>
              <a:t>Comparación honesta en la prueba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65324B-A716-40A9-A90C-145A83DC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962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pPr>
            <a:r>
              <a:rPr sz="1350" b="0" i="0">
                <a:solidFill>
                  <a:srgbClr val="5E6676"/>
                </a:solidFill>
                <a:latin typeface="Oswald"/>
                <a:ea typeface="Oswald"/>
                <a:cs typeface="Oswald"/>
              </a:rPr>
              <a:t>Precision@3: cuántos platos relevantes aparecen entre las tres primeras opciones.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FB4EC7-9390-437A-A589-E061E50C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263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EFED1E-35B6-4277-A792-BA569D0B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050" b="1" i="0">
                <a:solidFill>
                  <a:srgbClr val="202638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r">
              <a:defRPr sz="1050" b="1" i="0">
                <a:solidFill>
                  <a:srgbClr val="202638"/>
                </a:solidFill>
                <a:latin typeface="Oswald"/>
                <a:ea typeface="Oswald"/>
                <a:cs typeface="Oswald"/>
              </a:defRPr>
            </a:pPr>
            <a:r>
              <a:rPr sz="1050" b="1" i="0">
                <a:solidFill>
                  <a:srgbClr val="202638"/>
                </a:solidFill>
                <a:latin typeface="Oswald"/>
                <a:ea typeface="Oswald"/>
                <a:cs typeface="Oswald"/>
              </a:rPr>
              <a:t>FOOD AI</a:t>
            </a:r>
          </a:p>
        </p:txBody>
      </p:sp>
      <p:graphicFrame>
        <p:nvGraphicFrame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23582E-E48A-4DD1-8F5B-75A53A557C4A}"/>
              </a:ext>
            </a:extLst>
          </p:cNvPr>
          <p:cNvGraphicFramePr/>
          <p:nvPr/>
        </p:nvGraphicFramePr>
        <p:xfrm>
          <a:off xmlns:a="http://schemas.openxmlformats.org/drawingml/2006/main" x="723900" y="2133600"/>
          <a:ext xmlns:a="http://schemas.openxmlformats.org/drawingml/2006/main" cx="4857750" cy="2095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09750"/>
                <a:gridCol w="1524000"/>
                <a:gridCol w="1524000"/>
              </a:tblGrid>
              <a:tr h="523875">
                <a:tc>
                  <a:txBody>
                    <a:bodyPr/>
                    <a:lstStyle/>
                    <a:p>
                      <a:r>
                        <a:t>Sistema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Split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Precision@3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t>Pesos seleccionados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Validación (20)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0.6167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t>Línea base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Prueba (55)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0.6121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t>Modelo híbrido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Prueba (55)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E08A22"/>
                          </a:solidFill>
                          <a:latin typeface="Arial"/>
                          <a:ea typeface="Arial"/>
                          <a:cs typeface="Arial"/>
                        </a:rPr>
                        <a:t>0.4727</a:t>
                      </a:r>
                    </a:p>
                  </a:txBody>
                  <a:tcPr marL="91440" marR="91440" marT="45720" marB="45720">
                    <a:solidFill>
                      <a:srgbClr val="FFF3E3"/>
                    </a:solidFill>
                  </a:tcPr>
                </a:tc>
              </a:tr>
            </a:tbl>
          </a:graphicData>
        </a:graphic>
      </p:graphicFrame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D129FA-40D4-48B5-8DF2-23B8D6BB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 i="0">
                <a:solidFill>
                  <a:srgbClr val="7D55E8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7D55E8"/>
                </a:solidFill>
                <a:latin typeface="Oswald"/>
                <a:ea typeface="Oswald"/>
                <a:cs typeface="Oswald"/>
              </a:defRPr>
            </a:pPr>
            <a:r>
              <a:rPr sz="1125" b="1" i="0">
                <a:solidFill>
                  <a:srgbClr val="7D55E8"/>
                </a:solidFill>
                <a:latin typeface="Oswald"/>
                <a:ea typeface="Oswald"/>
                <a:cs typeface="Oswald"/>
              </a:rPr>
              <a:t>Lectura del resultado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B50FD4-6147-4D35-95E8-6E2C7103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pPr>
            <a:r>
              <a:rPr sz="1725" b="1" i="0">
                <a:solidFill>
                  <a:srgbClr val="202638"/>
                </a:solidFill>
                <a:latin typeface="Blinker"/>
                <a:ea typeface="Blinker"/>
                <a:cs typeface="Blinker"/>
              </a:rPr>
              <a:t>La línea base todavía gana en este dataset sintético. La comparación se reporta sin ocultar el límite.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F2343D-F7CD-49E0-A9F5-40F2896A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pPr>
            <a:r>
              <a:rPr sz="1200" b="0" i="0">
                <a:solidFill>
                  <a:srgbClr val="5E6676"/>
                </a:solidFill>
                <a:latin typeface="Oswald"/>
                <a:ea typeface="Oswald"/>
                <a:cs typeface="Oswald"/>
              </a:rPr>
              <a:t>La fortaleza actual está en el flujo completo: seguridad, particiones, API, frontend y trazabilidad.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B6E65A-3F31-4212-A95F-4AD43A7C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33600"/>
            <a:ext cx="5276850" cy="3752850"/>
          </a:xfrm>
          <a:prstGeom xmlns:a="http://schemas.openxmlformats.org/drawingml/2006/main" prst="roundRect">
            <a:avLst>
              <a:gd name="adj" fmla="val 406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43D22B-C7B3-44C1-B7EA-0C7EB0D2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193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 i="0">
                <a:solidFill>
                  <a:srgbClr val="7D55E8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7D55E8"/>
                </a:solidFill>
                <a:latin typeface="Oswald"/>
                <a:ea typeface="Oswald"/>
                <a:cs typeface="Oswald"/>
              </a:defRPr>
            </a:pPr>
            <a:r>
              <a:rPr sz="1125" b="1" i="0">
                <a:solidFill>
                  <a:srgbClr val="7D55E8"/>
                </a:solidFill>
                <a:latin typeface="Oswald"/>
                <a:ea typeface="Oswald"/>
                <a:cs typeface="Oswald"/>
              </a:rPr>
              <a:t>PRECISION@3</a:t>
            </a:r>
          </a:p>
        </p:txBody>
      </p:sp>
      <p:graphicFrame>
        <p:nvGraphicFramePr>
          <p:cNvPr id="26" name="Chart">
            <a:extLst xmlns:a="http://schemas.openxmlformats.org/drawingml/2006/main">
              <a:ext uri="{FF2B5EF4-FFF2-40B4-BE49-F238E27FC236}">
                <a16:creationId xmlns:a16="http://schemas.microsoft.com/office/drawing/2014/main" id="{0F296B11-0A27-4B60-B178-317858F9937F}"/>
              </a:ext>
            </a:extLst>
          </p:cNvPr>
          <p:cNvGraphicFramePr/>
          <p:nvPr/>
        </p:nvGraphicFramePr>
        <p:xfrm>
          <a:off xmlns:a="http://schemas.openxmlformats.org/drawingml/2006/main" x="6553200" y="2781300"/>
          <a:ext xmlns:a="http://schemas.openxmlformats.org/drawingml/2006/main" cx="4495800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976bb7f09f245dd"/>
          </a:graphicData>
        </a:graphic>
      </p:graphicFrame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EA628B-AFE8-4217-BBDD-E482B6DC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9527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050" b="1" i="0">
                <a:solidFill>
                  <a:srgbClr val="2026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20263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02638"/>
                </a:solidFill>
                <a:latin typeface="Arial"/>
                <a:ea typeface="Arial"/>
                <a:cs typeface="Arial"/>
              </a:rPr>
              <a:t>0.6167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C65788-C9F4-4EFC-8466-A013C9B7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9718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050" b="1" i="0">
                <a:solidFill>
                  <a:srgbClr val="2026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20263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02638"/>
                </a:solidFill>
                <a:latin typeface="Arial"/>
                <a:ea typeface="Arial"/>
                <a:cs typeface="Arial"/>
              </a:rPr>
              <a:t>0.6121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4A9088-265A-4AA7-B2C9-61267E9A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328612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050" b="1" i="0">
                <a:solidFill>
                  <a:srgbClr val="2026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20263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02638"/>
                </a:solidFill>
                <a:latin typeface="Arial"/>
                <a:ea typeface="Arial"/>
                <a:cs typeface="Arial"/>
              </a:rPr>
              <a:t>0.4727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56E265-DA94-4384-ADF2-1BAE5DD1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960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750" b="1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pPr>
            <a:r>
              <a:rPr sz="750" b="1" i="0">
                <a:solidFill>
                  <a:srgbClr val="5E6676"/>
                </a:solidFill>
                <a:latin typeface="Oswald"/>
                <a:ea typeface="Oswald"/>
                <a:cs typeface="Oswald"/>
              </a:rPr>
              <a:t>MAESTRÍA · SISTEMA DE COMIDAS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0772BD-8405-455B-9863-CECDB894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75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r">
              <a:defRPr sz="75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pPr>
            <a:r>
              <a:rPr sz="750" b="0" i="0">
                <a:solidFill>
                  <a:srgbClr val="5E6676"/>
                </a:solidFill>
                <a:latin typeface="Oswald"/>
                <a:ea typeface="Oswald"/>
                <a:cs typeface="Oswald"/>
              </a:rPr>
              <a:t>PROYECTO FINAL DE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47231826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326D27D-EFC4-46C0-9D38-3C6DDAA9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4926F-44BE-4F32-A122-043C5A89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-400050"/>
            <a:ext cx="1762125" cy="1104900"/>
          </a:xfrm>
          <a:custGeom xmlns:a="http://schemas.openxmlformats.org/drawingml/2006/main">
            <a:pathLst>
              <a:path w="1762125" h="1104900">
                <a:moveTo>
                  <a:pt x="0" y="0"/>
                </a:moveTo>
                <a:lnTo>
                  <a:pt x="1762125" y="0"/>
                </a:lnTo>
                <a:lnTo>
                  <a:pt x="1333500" y="1104900"/>
                </a:lnTo>
                <a:lnTo>
                  <a:pt x="476250" y="1104900"/>
                </a:lnTo>
                <a:close/>
              </a:path>
            </a:pathLst>
          </a:custGeom>
          <a:solidFill xmlns:a="http://schemas.openxmlformats.org/drawingml/2006/main">
            <a:srgbClr val="16B8E5"/>
          </a:solidFill>
          <a:ln xmlns:a="http://schemas.openxmlformats.org/drawingml/2006/main" w="9525">
            <a:solidFill>
              <a:srgbClr val="16B8E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200323-9DA8-4E2B-870D-8E6C515C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6248400"/>
            <a:ext cx="1714500" cy="914400"/>
          </a:xfrm>
          <a:custGeom xmlns:a="http://schemas.openxmlformats.org/drawingml/2006/main">
            <a:pathLst>
              <a:path w="1714500" h="914400">
                <a:moveTo>
                  <a:pt x="400050" y="0"/>
                </a:moveTo>
                <a:lnTo>
                  <a:pt x="1314450" y="0"/>
                </a:lnTo>
                <a:lnTo>
                  <a:pt x="1714500" y="914400"/>
                </a:lnTo>
                <a:lnTo>
                  <a:pt x="0" y="914400"/>
                </a:lnTo>
                <a:close/>
              </a:path>
            </a:pathLst>
          </a:custGeom>
          <a:solidFill xmlns:a="http://schemas.openxmlformats.org/drawingml/2006/main">
            <a:srgbClr val="7D55E8"/>
          </a:solidFill>
          <a:ln xmlns:a="http://schemas.openxmlformats.org/drawingml/2006/main" w="9525">
            <a:solidFill>
              <a:srgbClr val="7D55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9C759B-267A-4B93-B904-EC57B3F4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29200"/>
            <a:ext cx="1619250" cy="1619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11A31-FCAB-4AC6-942D-AA548E5A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914900"/>
            <a:ext cx="1847850" cy="1847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B8E5">
                <a:alpha val="4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291FDA-EEC2-435C-BA1E-98CA56CB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66750"/>
            <a:ext cx="2095500" cy="2476500"/>
          </a:xfrm>
          <a:custGeom xmlns:a="http://schemas.openxmlformats.org/drawingml/2006/main">
            <a:pathLst>
              <a:path w="2095500" h="2476500">
                <a:moveTo>
                  <a:pt x="762000" y="0"/>
                </a:moveTo>
                <a:lnTo>
                  <a:pt x="2095500" y="0"/>
                </a:lnTo>
                <a:lnTo>
                  <a:pt x="2095500" y="1428750"/>
                </a:lnTo>
                <a:lnTo>
                  <a:pt x="1066800" y="2476500"/>
                </a:lnTo>
                <a:lnTo>
                  <a:pt x="0" y="2476500"/>
                </a:lnTo>
                <a:lnTo>
                  <a:pt x="0" y="11049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D55E8">
                <a:alpha val="46667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A91ED9-5505-48C3-95AB-81B71F64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8102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E5"/>
          </a:solidFill>
          <a:ln xmlns:a="http://schemas.openxmlformats.org/drawingml/2006/main" w="0">
            <a:solidFill>
              <a:srgbClr val="16B8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807049-414E-4794-8D0F-D9857190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160" y="651071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E5"/>
          </a:solidFill>
          <a:ln xmlns:a="http://schemas.openxmlformats.org/drawingml/2006/main" w="0">
            <a:solidFill>
              <a:srgbClr val="16B8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C7481C-19E7-462C-B39E-A678E15A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008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E5"/>
          </a:solidFill>
          <a:ln xmlns:a="http://schemas.openxmlformats.org/drawingml/2006/main" w="0">
            <a:solidFill>
              <a:srgbClr val="16B8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7BCBA6-1378-4B57-9756-77AEE693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40" y="651071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E5"/>
          </a:solidFill>
          <a:ln xmlns:a="http://schemas.openxmlformats.org/drawingml/2006/main" w="0">
            <a:solidFill>
              <a:srgbClr val="16B8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C8E671-68BB-4988-80F6-9AB16AF4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" y="58102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E5"/>
          </a:solidFill>
          <a:ln xmlns:a="http://schemas.openxmlformats.org/drawingml/2006/main" w="0">
            <a:solidFill>
              <a:srgbClr val="16B8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0039BF-7DDA-4962-98BF-2E05D496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40" y="510979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E5"/>
          </a:solidFill>
          <a:ln xmlns:a="http://schemas.openxmlformats.org/drawingml/2006/main" w="0">
            <a:solidFill>
              <a:srgbClr val="16B8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7BC4E1-862F-4D41-BF77-B3EE607A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196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E5"/>
          </a:solidFill>
          <a:ln xmlns:a="http://schemas.openxmlformats.org/drawingml/2006/main" w="0">
            <a:solidFill>
              <a:srgbClr val="16B8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F354DA-4104-46C9-BFEB-FD2845DD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160" y="510979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E5"/>
          </a:solidFill>
          <a:ln xmlns:a="http://schemas.openxmlformats.org/drawingml/2006/main" w="0">
            <a:solidFill>
              <a:srgbClr val="16B8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D5A8DA-E85F-4222-A3F1-01491309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 i="0">
                <a:solidFill>
                  <a:srgbClr val="16B8E5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16B8E5"/>
                </a:solidFill>
                <a:latin typeface="Oswald"/>
                <a:ea typeface="Oswald"/>
                <a:cs typeface="Oswald"/>
              </a:defRPr>
            </a:pPr>
            <a:r>
              <a:rPr sz="1050" b="1" i="0">
                <a:solidFill>
                  <a:srgbClr val="16B8E5"/>
                </a:solidFill>
                <a:latin typeface="Oswald"/>
                <a:ea typeface="Oswald"/>
                <a:cs typeface="Oswald"/>
              </a:rPr>
              <a:t>04 / DEMOSTRACIÓN Y CIERRE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55D049-CD91-4638-BFF9-FC55B47E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200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85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defPPr>
          </a:lstStyle>
          <a:p xmlns:a="http://schemas.openxmlformats.org/drawingml/2006/main">
            <a:pPr algn="l">
              <a:defRPr sz="285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pPr>
            <a:r>
              <a:rPr sz="2850" b="1" i="0">
                <a:solidFill>
                  <a:srgbClr val="202638"/>
                </a:solidFill>
                <a:latin typeface="Blinker"/>
                <a:ea typeface="Blinker"/>
                <a:cs typeface="Blinker"/>
              </a:rPr>
              <a:t>De una frase a una decisión útil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F41466-01B9-41C0-A234-966E0DCF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962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pPr>
            <a:r>
              <a:rPr sz="1350" b="0" i="0">
                <a:solidFill>
                  <a:srgbClr val="5E6676"/>
                </a:solidFill>
                <a:latin typeface="Oswald"/>
                <a:ea typeface="Oswald"/>
                <a:cs typeface="Oswald"/>
              </a:rPr>
              <a:t>El frontend muestra estados, interpretación, recomendaciones y límites de seguridad.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B0D494-43F1-4B8C-8D2A-3ED8E8E3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263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9C88DD-1990-4619-8769-205DABDB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050" b="1" i="0">
                <a:solidFill>
                  <a:srgbClr val="202638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r">
              <a:defRPr sz="1050" b="1" i="0">
                <a:solidFill>
                  <a:srgbClr val="202638"/>
                </a:solidFill>
                <a:latin typeface="Oswald"/>
                <a:ea typeface="Oswald"/>
                <a:cs typeface="Oswald"/>
              </a:defRPr>
            </a:pPr>
            <a:r>
              <a:rPr sz="1050" b="1" i="0">
                <a:solidFill>
                  <a:srgbClr val="202638"/>
                </a:solidFill>
                <a:latin typeface="Oswald"/>
                <a:ea typeface="Oswald"/>
                <a:cs typeface="Oswald"/>
              </a:rPr>
              <a:t>FOOD AI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6831F7-749F-4A0B-825E-BB021673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B8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A88D2A-BAA2-451C-B2D7-1C37C7F0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955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1" i="0">
                <a:solidFill>
                  <a:srgbClr val="16B8E5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16B8E5"/>
                </a:solidFill>
                <a:latin typeface="Oswald"/>
                <a:ea typeface="Oswald"/>
                <a:cs typeface="Oswald"/>
              </a:defRPr>
            </a:pPr>
            <a:r>
              <a:rPr sz="1125" b="1" i="0">
                <a:solidFill>
                  <a:srgbClr val="16B8E5"/>
                </a:solidFill>
                <a:latin typeface="Oswald"/>
                <a:ea typeface="Oswald"/>
                <a:cs typeface="Oswald"/>
              </a:rPr>
              <a:t>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BADFC6-BC9B-4193-A1C6-F986ADA5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002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pPr>
            <a:r>
              <a:rPr sz="1500" b="1" i="0">
                <a:solidFill>
                  <a:srgbClr val="202638"/>
                </a:solidFill>
                <a:latin typeface="Blinker"/>
                <a:ea typeface="Blinker"/>
                <a:cs typeface="Blinker"/>
              </a:rPr>
              <a:t>Válido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11E379-54B4-4B89-95C3-324D2F1E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21932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pPr>
            <a:r>
              <a:rPr sz="1275" b="0" i="0">
                <a:solidFill>
                  <a:srgbClr val="5E6676"/>
                </a:solidFill>
                <a:latin typeface="Oswald"/>
                <a:ea typeface="Oswald"/>
                <a:cs typeface="Oswald"/>
              </a:rPr>
              <a:t>Vegetariano, sin lactosa y poco picante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66727F-42FA-437C-8337-E5731A7A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B8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EEF18D-41F9-42A0-837D-11CD7C3B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860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1" i="0">
                <a:solidFill>
                  <a:srgbClr val="16B8E5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16B8E5"/>
                </a:solidFill>
                <a:latin typeface="Oswald"/>
                <a:ea typeface="Oswald"/>
                <a:cs typeface="Oswald"/>
              </a:defRPr>
            </a:pPr>
            <a:r>
              <a:rPr sz="1125" b="1" i="0">
                <a:solidFill>
                  <a:srgbClr val="16B8E5"/>
                </a:solidFill>
                <a:latin typeface="Oswald"/>
                <a:ea typeface="Oswald"/>
                <a:cs typeface="Oswald"/>
              </a:rPr>
              <a:t>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5BEE-6BB3-47E6-99EA-6AD16B57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908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pPr>
            <a:r>
              <a:rPr sz="1500" b="1" i="0">
                <a:solidFill>
                  <a:srgbClr val="202638"/>
                </a:solidFill>
                <a:latin typeface="Blinker"/>
                <a:ea typeface="Blinker"/>
                <a:cs typeface="Blinker"/>
              </a:rPr>
              <a:t>Difícil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781E47-AB80-4649-AB7B-D252E52D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098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pPr>
            <a:r>
              <a:rPr sz="1275" b="0" i="0">
                <a:solidFill>
                  <a:srgbClr val="5E6676"/>
                </a:solidFill>
                <a:latin typeface="Oswald"/>
                <a:ea typeface="Oswald"/>
                <a:cs typeface="Oswald"/>
              </a:rPr>
              <a:t>Sin gluten con pollo y menor a Bs 50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617FD1-C8D0-49E8-B0BE-043BC908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08A2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D6DDFA-5D44-45FE-8D28-0D752236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1" i="0">
                <a:solidFill>
                  <a:srgbClr val="E08A22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E08A22"/>
                </a:solidFill>
                <a:latin typeface="Oswald"/>
                <a:ea typeface="Oswald"/>
                <a:cs typeface="Oswald"/>
              </a:defRPr>
            </a:pPr>
            <a:r>
              <a:rPr sz="1125" b="1" i="0">
                <a:solidFill>
                  <a:srgbClr val="E08A22"/>
                </a:solidFill>
                <a:latin typeface="Oswald"/>
                <a:ea typeface="Oswald"/>
                <a:cs typeface="Oswald"/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7BACF7-1190-44ED-9C7D-6CC0C86C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813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pPr>
            <a:r>
              <a:rPr sz="1500" b="1" i="0">
                <a:solidFill>
                  <a:srgbClr val="202638"/>
                </a:solidFill>
                <a:latin typeface="Blinker"/>
                <a:ea typeface="Blinker"/>
                <a:cs typeface="Blinker"/>
              </a:rPr>
              <a:t>Seguridad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49DB57-EAEE-4455-A2ED-46D92BF4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0042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pPr>
            <a:r>
              <a:rPr sz="1275" b="0" i="0">
                <a:solidFill>
                  <a:srgbClr val="5E6676"/>
                </a:solidFill>
                <a:latin typeface="Oswald"/>
                <a:ea typeface="Oswald"/>
                <a:cs typeface="Oswald"/>
              </a:rPr>
              <a:t>Alergia a pescado y quiero salmón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36EE56-AB70-428C-8A73-24E76E65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B8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DC7F8C-460F-4D53-8259-089E04C7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671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1" i="0">
                <a:solidFill>
                  <a:srgbClr val="16B8E5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16B8E5"/>
                </a:solidFill>
                <a:latin typeface="Oswald"/>
                <a:ea typeface="Oswald"/>
                <a:cs typeface="Oswald"/>
              </a:defRPr>
            </a:pPr>
            <a:r>
              <a:rPr sz="1125" b="1" i="0">
                <a:solidFill>
                  <a:srgbClr val="16B8E5"/>
                </a:solidFill>
                <a:latin typeface="Oswald"/>
                <a:ea typeface="Oswald"/>
                <a:cs typeface="Oswald"/>
              </a:rPr>
              <a:t>04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73928A-8655-42FC-86D7-1ABE9DD7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19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pPr>
            <a:r>
              <a:rPr sz="1500" b="1" i="0">
                <a:solidFill>
                  <a:srgbClr val="202638"/>
                </a:solidFill>
                <a:latin typeface="Blinker"/>
                <a:ea typeface="Blinker"/>
                <a:cs typeface="Blinker"/>
              </a:rPr>
              <a:t>Inválido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91BBDA-29E6-40E9-B12A-EE1E49F8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909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pPr>
            <a:r>
              <a:rPr sz="1275" b="0" i="0">
                <a:solidFill>
                  <a:srgbClr val="5E6676"/>
                </a:solidFill>
                <a:latin typeface="Oswald"/>
                <a:ea typeface="Oswald"/>
                <a:cs typeface="Oswald"/>
              </a:rPr>
              <a:t>Texto vacío o de un carácter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7C39FA-5419-4A2D-A44E-DFA66928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5286375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EAF9FD"/>
          </a:solidFill>
          <a:ln xmlns:a="http://schemas.openxmlformats.org/drawingml/2006/main" w="9525">
            <a:solidFill>
              <a:srgbClr val="16B8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2F90D9-DBE9-4250-AF99-EFA36785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054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 i="0">
                <a:solidFill>
                  <a:srgbClr val="087EAE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087EAE"/>
                </a:solidFill>
                <a:latin typeface="Oswald"/>
                <a:ea typeface="Oswald"/>
                <a:cs typeface="Oswald"/>
              </a:defRPr>
            </a:pPr>
            <a:r>
              <a:rPr sz="1125" b="1" i="0">
                <a:solidFill>
                  <a:srgbClr val="087EAE"/>
                </a:solidFill>
                <a:latin typeface="Oswald"/>
                <a:ea typeface="Oswald"/>
                <a:cs typeface="Oswald"/>
              </a:rPr>
              <a:t>VOZ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B0F9852-74B7-4074-BBD5-F6937129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863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 i="0">
                <a:solidFill>
                  <a:srgbClr val="202638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202638"/>
                </a:solidFill>
                <a:latin typeface="Oswald"/>
                <a:ea typeface="Oswald"/>
                <a:cs typeface="Oswald"/>
              </a:defRPr>
            </a:pPr>
            <a:r>
              <a:rPr sz="1200" b="0" i="0">
                <a:solidFill>
                  <a:srgbClr val="202638"/>
                </a:solidFill>
                <a:latin typeface="Oswald"/>
                <a:ea typeface="Oswald"/>
                <a:cs typeface="Oswald"/>
              </a:rPr>
              <a:t>Web Speech API transcribe y reutiliza el mismo endpoint.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9AAC6C-DD3E-4EF5-94BC-FAB0E331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52650"/>
            <a:ext cx="4762500" cy="19812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02638"/>
          </a:solidFill>
          <a:ln xmlns:a="http://schemas.openxmlformats.org/drawingml/2006/main" w="0">
            <a:solidFill>
              <a:srgbClr val="20263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846996E-46B8-43D0-8E6A-DDD25A9B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574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 i="0">
                <a:solidFill>
                  <a:srgbClr val="E08A22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E08A22"/>
                </a:solidFill>
                <a:latin typeface="Oswald"/>
                <a:ea typeface="Oswald"/>
                <a:cs typeface="Oswald"/>
              </a:defRPr>
            </a:pPr>
            <a:r>
              <a:rPr sz="1125" b="1" i="0">
                <a:solidFill>
                  <a:srgbClr val="E08A22"/>
                </a:solidFill>
                <a:latin typeface="Oswald"/>
                <a:ea typeface="Oswald"/>
                <a:cs typeface="Oswald"/>
              </a:rPr>
              <a:t>USO RESPONSABLE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B6230F-C4CE-4552-ABC7-43EB7CEC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5750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 i="0">
                <a:solidFill>
                  <a:srgbClr val="FFFFFF"/>
                </a:solidFill>
                <a:latin typeface="Blinker"/>
                <a:ea typeface="Blinker"/>
                <a:cs typeface="Blinker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FFFFFF"/>
                </a:solidFill>
                <a:latin typeface="Blinker"/>
                <a:ea typeface="Blinker"/>
                <a:cs typeface="Blinker"/>
              </a:defRPr>
            </a:pPr>
            <a:r>
              <a:rPr sz="1725" b="1" i="0">
                <a:solidFill>
                  <a:srgbClr val="FFFFFF"/>
                </a:solidFill>
                <a:latin typeface="Blinker"/>
                <a:ea typeface="Blinker"/>
                <a:cs typeface="Blinker"/>
              </a:rPr>
              <a:t>Confirma ingredientes y</a:t>
            </a:r>
          </a:p>
          <a:p xmlns:a="http://schemas.openxmlformats.org/drawingml/2006/main">
            <a:pPr algn="l">
              <a:defRPr sz="1725" b="1" i="0">
                <a:solidFill>
                  <a:srgbClr val="FFFFFF"/>
                </a:solidFill>
                <a:latin typeface="Blinker"/>
                <a:ea typeface="Blinker"/>
                <a:cs typeface="Blinker"/>
              </a:defRPr>
            </a:pPr>
            <a:r>
              <a:rPr sz="1725" b="1" i="0">
                <a:solidFill>
                  <a:srgbClr val="FFFFFF"/>
                </a:solidFill>
                <a:latin typeface="Blinker"/>
                <a:ea typeface="Blinker"/>
                <a:cs typeface="Blinker"/>
              </a:rPr>
              <a:t>contaminación cruzada.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F08ED5C-5E14-424C-9B25-FAE69598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385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 i="0">
                <a:solidFill>
                  <a:srgbClr val="C7D0DC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125" b="0" i="0">
                <a:solidFill>
                  <a:srgbClr val="C7D0DC"/>
                </a:solidFill>
                <a:latin typeface="Oswald"/>
                <a:ea typeface="Oswald"/>
                <a:cs typeface="Oswald"/>
              </a:defRPr>
            </a:pPr>
            <a:r>
              <a:rPr sz="1125" b="0" i="0">
                <a:solidFill>
                  <a:srgbClr val="C7D0DC"/>
                </a:solidFill>
                <a:latin typeface="Oswald"/>
                <a:ea typeface="Oswald"/>
                <a:cs typeface="Oswald"/>
              </a:rPr>
              <a:t>Un alérgeno no registrado no garantiza seguridad.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08BC0F2-EE1A-40A8-9558-9E47E81D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19600"/>
            <a:ext cx="47625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7D55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894B701-1DF6-4E17-9269-C95ECCBC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6863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 i="0">
                <a:solidFill>
                  <a:srgbClr val="7D55E8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7D55E8"/>
                </a:solidFill>
                <a:latin typeface="Oswald"/>
                <a:ea typeface="Oswald"/>
                <a:cs typeface="Oswald"/>
              </a:defRPr>
            </a:pPr>
            <a:r>
              <a:rPr sz="1125" b="1" i="0">
                <a:solidFill>
                  <a:srgbClr val="7D55E8"/>
                </a:solidFill>
                <a:latin typeface="Oswald"/>
                <a:ea typeface="Oswald"/>
                <a:cs typeface="Oswald"/>
              </a:rPr>
              <a:t>PARA EJECUTAR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732CD72-E1C6-47CA-8477-98B5043D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0292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 i="0">
                <a:solidFill>
                  <a:srgbClr val="2026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20263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02638"/>
                </a:solidFill>
                <a:latin typeface="Arial"/>
                <a:ea typeface="Arial"/>
                <a:cs typeface="Arial"/>
              </a:rPr>
              <a:t>docker compose up --build</a:t>
            </a:r>
          </a:p>
          <a:p xmlns:a="http://schemas.openxmlformats.org/drawingml/2006/main">
            <a:pPr algn="l">
              <a:defRPr sz="1350" b="1" i="0">
                <a:solidFill>
                  <a:srgbClr val="20263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02638"/>
                </a:solidFill>
                <a:latin typeface="Arial"/>
                <a:ea typeface="Arial"/>
                <a:cs typeface="Arial"/>
              </a:rPr>
              <a:t>http://localhost:8080 · API /docs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91D4936-00B6-4C16-93DA-C9BA05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960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750" b="1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pPr>
            <a:r>
              <a:rPr sz="750" b="1" i="0">
                <a:solidFill>
                  <a:srgbClr val="5E6676"/>
                </a:solidFill>
                <a:latin typeface="Oswald"/>
                <a:ea typeface="Oswald"/>
                <a:cs typeface="Oswald"/>
              </a:rPr>
              <a:t>MAESTRÍA · SISTEMA DE COMIDAS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4797974-68CA-4E3C-9269-092BADB9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75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r">
              <a:defRPr sz="75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pPr>
            <a:r>
              <a:rPr sz="750" b="0" i="0">
                <a:solidFill>
                  <a:srgbClr val="5E6676"/>
                </a:solidFill>
                <a:latin typeface="Oswald"/>
                <a:ea typeface="Oswald"/>
                <a:cs typeface="Oswald"/>
              </a:rPr>
              <a:t>GRACIAS · PREGUNTAS</a:t>
            </a:r>
          </a:p>
        </p:txBody>
      </p:sp>
    </p:spTree>
    <p:extLst>
      <p:ext uri="{BB962C8B-B14F-4D97-AF65-F5344CB8AC3E}">
        <p14:creationId xmlns:p14="http://schemas.microsoft.com/office/powerpoint/2010/main" val="12441068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2026-10-10T20:27:16.7900000Z</dcterms:created>
  <dcterms:modified xsi:type="dcterms:W3CDTF">2026-10-10T20:27:16.7900000Z</dcterms:modified>
</coreProperties>
</file>