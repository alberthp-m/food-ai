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ad47fc4c594ae5" /><Relationship Type="http://schemas.openxmlformats.org/officeDocument/2006/relationships/extended-properties" Target="/docProps/app.xml" Id="R17e5bcf75e724a5b" /><Relationship Type="http://schemas.openxmlformats.org/officeDocument/2006/relationships/officeDocument" Target="/ppt/presentation.xml" Id="R96a0bc8a2e1849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1eb9d5bb1e45a6"/>
  </p:sldMasterIdLst>
  <p:notesMasterIdLst>
    <p:notesMasterId xmlns:r="http://schemas.openxmlformats.org/officeDocument/2006/relationships" r:id="Rdbb555fd26c0413d"/>
  </p:notesMasterIdLst>
  <p:sldIdLst>
    <p:sldId xmlns:r="http://schemas.openxmlformats.org/officeDocument/2006/relationships" id="256" r:id="R0c5bf6ccdff543e3"/>
    <p:sldId xmlns:r="http://schemas.openxmlformats.org/officeDocument/2006/relationships" id="257" r:id="R9cbc6ea16eba45ae"/>
    <p:sldId xmlns:r="http://schemas.openxmlformats.org/officeDocument/2006/relationships" id="258" r:id="R4f5ff32e6995409c"/>
    <p:sldId xmlns:r="http://schemas.openxmlformats.org/officeDocument/2006/relationships" id="259" r:id="R29ec54811e954c3f"/>
    <p:sldId xmlns:r="http://schemas.openxmlformats.org/officeDocument/2006/relationships" id="260" r:id="R1486185a5ec3493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f7116dec484b05" /><Relationship Type="http://schemas.openxmlformats.org/officeDocument/2006/relationships/slideMaster" Target="/ppt/slideMasters/slideMaster1.xml" Id="R911eb9d5bb1e45a6" /><Relationship Type="http://schemas.openxmlformats.org/officeDocument/2006/relationships/notesMaster" Target="/ppt/notesMasters/notesMaster1.xml" Id="Rdbb555fd26c0413d" /><Relationship Type="http://schemas.openxmlformats.org/officeDocument/2006/relationships/presProps" Target="/ppt/presProps.xml" Id="R56b9605a56074bd2" /><Relationship Type="http://schemas.openxmlformats.org/officeDocument/2006/relationships/tableStyles" Target="/ppt/tableStyles.xml" Id="Re7f2488711d54ac4" /><Relationship Type="http://schemas.openxmlformats.org/officeDocument/2006/relationships/slide" Target="/ppt/slides/slide1.xml" Id="R0c5bf6ccdff543e3" /><Relationship Type="http://schemas.openxmlformats.org/officeDocument/2006/relationships/slide" Target="/ppt/slides/slide2.xml" Id="R9cbc6ea16eba45ae" /><Relationship Type="http://schemas.openxmlformats.org/officeDocument/2006/relationships/slide" Target="/ppt/slides/slide3.xml" Id="R4f5ff32e6995409c" /><Relationship Type="http://schemas.openxmlformats.org/officeDocument/2006/relationships/slide" Target="/ppt/slides/slide4.xml" Id="R29ec54811e954c3f" /><Relationship Type="http://schemas.openxmlformats.org/officeDocument/2006/relationships/slide" Target="/ppt/slides/slide5.xml" Id="R1486185a5ec349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4cec2c88eb4d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690100fa6d4ec7" /><Relationship Type="http://schemas.openxmlformats.org/officeDocument/2006/relationships/notesMaster" Target="/ppt/notesMasters/notesMaster1.xml" Id="Re0ea203279b043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5eb39c28b547bf" /><Relationship Type="http://schemas.openxmlformats.org/officeDocument/2006/relationships/notesMaster" Target="/ppt/notesMasters/notesMaster1.xml" Id="R1c819fca12e4418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976caf6762148fe" /><Relationship Type="http://schemas.openxmlformats.org/officeDocument/2006/relationships/notesMaster" Target="/ppt/notesMasters/notesMaster1.xml" Id="R73df07c81af94c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676c1a306d44382" /><Relationship Type="http://schemas.openxmlformats.org/officeDocument/2006/relationships/notesMaster" Target="/ppt/notesMasters/notesMaster1.xml" Id="R4a56138725404d2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eab6a8a36274675" /><Relationship Type="http://schemas.openxmlformats.org/officeDocument/2006/relationships/notesMaster" Target="/ppt/notesMasters/notesMaster1.xml" Id="R9a1fd3af64514a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el problema en una frase: navegar manualmente por el menú no ayuda cuando hay preferencias, alergias o presupuesto. La solución recibe texto o voz y devuelve tres opciones.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Aquí debes explicar dónde está la IA: en el encoder multilingüe y la similitud semántica. El filtro de alergias no se deja a la IA; se ejecuta con reglas deterministas antes del ranking.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la unidad de datos y la línea base. El encoder preentrenado convierte consulta y platos en vectores; el reordenamiento usa los pesos seleccionados en validación.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métrica principal es Precision@3 porque la interfaz muestra tres resultados. La línea base supera al modelo en la prueba y esto se presenta como una limitación honesta.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Demostrar dos consultas, el caso sin coincidencias seguras y una entrada inválida. Cerrar con la limitación del dataset sintético y el trabajo futuro con feedback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cb9dfff6414b6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610b6e736548f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5062d499074c1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2266222d7a487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f66b9aad29478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bcc4175e8241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17AFB6C-7F5C-4827-9503-C124CCE743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CB62ECA-E805-452D-BFA5-D57B5362AB8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12C817B-1C09-4739-A56E-AC32505F60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1AE06FB-4950-4C5E-B055-4EB3E50201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CB4A821-B571-4BD2-A396-5ED6EFECF2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F25DE0C-8A67-4FFD-9D90-A65007DCDE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643B77F-7D71-4F90-8D50-41AF99BD0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25D208C-C34C-45BB-83D2-12814E503C8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0335227-CCCC-45CC-9EDA-B71ABB65DA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2B37428-DB57-4F26-ADDF-FE8FB96A6A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fc6519dd7c4708" /><Relationship Type="http://schemas.openxmlformats.org/officeDocument/2006/relationships/slideLayout" Target="/ppt/slideLayouts/slideLayout1.xml" Id="R193063537bc34d99" /><Relationship Type="http://schemas.openxmlformats.org/officeDocument/2006/relationships/slideLayout" Target="/ppt/slideLayouts/slideLayout2.xml" Id="R356c364b4a7546e1" /><Relationship Type="http://schemas.openxmlformats.org/officeDocument/2006/relationships/slideLayout" Target="/ppt/slideLayouts/slideLayout3.xml" Id="R7ce708ecac8644be" /><Relationship Type="http://schemas.openxmlformats.org/officeDocument/2006/relationships/slideLayout" Target="/ppt/slideLayouts/slideLayout4.xml" Id="Rb8dcaf9580894867" /><Relationship Type="http://schemas.openxmlformats.org/officeDocument/2006/relationships/slideLayout" Target="/ppt/slideLayouts/slideLayout5.xml" Id="Rc46f62f950414c65" /><Relationship Type="http://schemas.openxmlformats.org/officeDocument/2006/relationships/slideLayout" Target="/ppt/slideLayouts/slideLayout6.xml" Id="Rfda3e83455d24b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3063537bc34d99"/>
    <p:sldLayoutId xmlns:r="http://schemas.openxmlformats.org/officeDocument/2006/relationships" id="2147483650" r:id="R356c364b4a7546e1"/>
    <p:sldLayoutId xmlns:r="http://schemas.openxmlformats.org/officeDocument/2006/relationships" id="2147483651" r:id="R7ce708ecac8644be"/>
    <p:sldLayoutId xmlns:r="http://schemas.openxmlformats.org/officeDocument/2006/relationships" id="2147483652" r:id="Rb8dcaf9580894867"/>
    <p:sldLayoutId xmlns:r="http://schemas.openxmlformats.org/officeDocument/2006/relationships" id="2147483653" r:id="Rc46f62f950414c65"/>
    <p:sldLayoutId xmlns:r="http://schemas.openxmlformats.org/officeDocument/2006/relationships" id="2147483654" r:id="Rfda3e83455d24b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bb064fab2c4a24" /><Relationship Type="http://schemas.openxmlformats.org/officeDocument/2006/relationships/notesSlide" Target="/ppt/notesSlides/notesSlide1.xml" Id="R20f2fccea4bf46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2669557f0141b0" /><Relationship Type="http://schemas.openxmlformats.org/officeDocument/2006/relationships/notesSlide" Target="/ppt/notesSlides/notesSlide2.xml" Id="Rf9e2737139244bb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5c6db7a070442d" /><Relationship Type="http://schemas.openxmlformats.org/officeDocument/2006/relationships/notesSlide" Target="/ppt/notesSlides/notesSlide3.xml" Id="R0af7acce55f441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a0498280014801" /><Relationship Type="http://schemas.openxmlformats.org/officeDocument/2006/relationships/chart" Target="/ppt/slides/charts/chart1.xml" Id="R15757c52161643d6" /><Relationship Type="http://schemas.openxmlformats.org/officeDocument/2006/relationships/notesSlide" Target="/ppt/notesSlides/notesSlide4.xml" Id="Rc6eeb36b1b05475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d5c2a42c6644ca" /><Relationship Type="http://schemas.openxmlformats.org/officeDocument/2006/relationships/notesSlide" Target="/ppt/notesSlides/notesSlide5.xml" Id="R0980b1c153fc469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Precision@3</c:v>
          </c:tx>
          <c:spPr>
            <a:solidFill xmlns:a="http://schemas.openxmlformats.org/drawingml/2006/main">
              <a:srgbClr val="7D55E8"/>
            </a:solidFill>
          </c:spPr>
          <c:cat>
            <c:strRef>
              <c:f>'Chart Data'!$A$2:$A$4</c:f>
              <c:strCache>
                <c:ptCount val="3"/>
                <c:pt idx="0">
                  <c:v>Pesos
validación</c:v>
                </c:pt>
                <c:pt idx="1">
                  <c:v>Línea
base</c:v>
                </c:pt>
                <c:pt idx="2">
                  <c:v>Modelo
híbrido</c:v>
                </c:pt>
              </c:strCache>
            </c:strRef>
          </c:cat>
          <c:val>
            <c:numRef>
              <c:f>'Chart Data'!$B$2:$B$4</c:f>
              <c:numCache>
                <c:formatCode>0.0000</c:formatCode>
                <c:ptCount val="3"/>
                <c:pt idx="0">
                  <c:v>0.6167</c:v>
                </c:pt>
                <c:pt idx="1">
                  <c:v>0.6121</c:v>
                </c:pt>
                <c:pt idx="2">
                  <c:v>0.4727</c:v>
                </c:pt>
              </c:numCache>
            </c:numRef>
          </c:val>
        </c:ser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E667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3EC"/>
              </a:solidFill>
              <a:prstDash val="solid"/>
            </a:ln>
          </c:spPr>
        </c:majorGridlines>
        <c:numFmt formatCode="0.0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7F9FC"/>
        </a:solidFill>
      </c:spPr>
    </c:plotArea>
    <c:plotVisOnly val="1"/>
  </c:chart>
  <c:spPr>
    <a:solidFill xmlns:a="http://schemas.openxmlformats.org/drawingml/2006/main">
      <a:srgbClr val="F7F9FC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D3AB22-2342-4961-8C1A-4C97D551D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DACAD2-E8F3-4C2A-97F8-13815E1B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-400050"/>
            <a:ext cx="1762125" cy="1104900"/>
          </a:xfrm>
          <a:custGeom xmlns:a="http://schemas.openxmlformats.org/drawingml/2006/main">
            <a:pathLst>
              <a:path w="1762125" h="1104900">
                <a:moveTo>
                  <a:pt x="0" y="0"/>
                </a:moveTo>
                <a:lnTo>
                  <a:pt x="1762125" y="0"/>
                </a:lnTo>
                <a:lnTo>
                  <a:pt x="1333500" y="1104900"/>
                </a:lnTo>
                <a:lnTo>
                  <a:pt x="476250" y="1104900"/>
                </a:lnTo>
                <a:close/>
              </a:path>
            </a:pathLst>
          </a:custGeom>
          <a:solidFill xmlns:a="http://schemas.openxmlformats.org/drawingml/2006/main">
            <a:srgbClr val="16B8E5"/>
          </a:solidFill>
          <a:ln xmlns:a="http://schemas.openxmlformats.org/drawingml/2006/main" w="9525">
            <a:solidFill>
              <a:srgbClr val="16B8E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45BB96-24FF-426A-AA66-839C7980A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6248400"/>
            <a:ext cx="1714500" cy="914400"/>
          </a:xfrm>
          <a:custGeom xmlns:a="http://schemas.openxmlformats.org/drawingml/2006/main">
            <a:pathLst>
              <a:path w="1714500" h="914400">
                <a:moveTo>
                  <a:pt x="400050" y="0"/>
                </a:moveTo>
                <a:lnTo>
                  <a:pt x="1314450" y="0"/>
                </a:lnTo>
                <a:lnTo>
                  <a:pt x="1714500" y="914400"/>
                </a:lnTo>
                <a:lnTo>
                  <a:pt x="0" y="914400"/>
                </a:lnTo>
                <a:close/>
              </a:path>
            </a:pathLst>
          </a:custGeom>
          <a:solidFill xmlns:a="http://schemas.openxmlformats.org/drawingml/2006/main">
            <a:srgbClr val="7D55E8"/>
          </a:solidFill>
          <a:ln xmlns:a="http://schemas.openxmlformats.org/drawingml/2006/main" w="9525">
            <a:solidFill>
              <a:srgbClr val="7D55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8EC6DA-3F6C-4DDB-885A-1841A387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29200"/>
            <a:ext cx="1619250" cy="1619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F2B655-05BD-43AD-9A31-C369645D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914900"/>
            <a:ext cx="1847850" cy="18478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B8E5">
                <a:alpha val="40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724E8E-61FF-44E4-A7F1-CC417BCE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66750"/>
            <a:ext cx="2095500" cy="2476500"/>
          </a:xfrm>
          <a:custGeom xmlns:a="http://schemas.openxmlformats.org/drawingml/2006/main">
            <a:pathLst>
              <a:path w="2095500" h="2476500">
                <a:moveTo>
                  <a:pt x="762000" y="0"/>
                </a:moveTo>
                <a:lnTo>
                  <a:pt x="2095500" y="0"/>
                </a:lnTo>
                <a:lnTo>
                  <a:pt x="2095500" y="1428750"/>
                </a:lnTo>
                <a:lnTo>
                  <a:pt x="1066800" y="2476500"/>
                </a:lnTo>
                <a:lnTo>
                  <a:pt x="0" y="2476500"/>
                </a:lnTo>
                <a:lnTo>
                  <a:pt x="0" y="11049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D55E8">
                <a:alpha val="46667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AF849F-D883-480C-A483-B03E1A458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8102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E5"/>
          </a:solidFill>
          <a:ln xmlns:a="http://schemas.openxmlformats.org/drawingml/2006/main" w="0">
            <a:solidFill>
              <a:srgbClr val="16B8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B2C812-A3EE-463B-BA13-6B036DBC2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160" y="651071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E5"/>
          </a:solidFill>
          <a:ln xmlns:a="http://schemas.openxmlformats.org/drawingml/2006/main" w="0">
            <a:solidFill>
              <a:srgbClr val="16B8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F7617B-1E06-427F-8C7B-4467A79E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008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E5"/>
          </a:solidFill>
          <a:ln xmlns:a="http://schemas.openxmlformats.org/drawingml/2006/main" w="0">
            <a:solidFill>
              <a:srgbClr val="16B8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7A1E3C-814E-4777-A57E-4B95E6FE5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240" y="651071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E5"/>
          </a:solidFill>
          <a:ln xmlns:a="http://schemas.openxmlformats.org/drawingml/2006/main" w="0">
            <a:solidFill>
              <a:srgbClr val="16B8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A8121B-0D93-4FB5-B23F-23668A42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" y="58102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E5"/>
          </a:solidFill>
          <a:ln xmlns:a="http://schemas.openxmlformats.org/drawingml/2006/main" w="0">
            <a:solidFill>
              <a:srgbClr val="16B8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814475-0D36-445C-BF4F-251DF522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240" y="510979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E5"/>
          </a:solidFill>
          <a:ln xmlns:a="http://schemas.openxmlformats.org/drawingml/2006/main" w="0">
            <a:solidFill>
              <a:srgbClr val="16B8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A61C1C-93BF-47FB-B119-8AE09E1E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196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E5"/>
          </a:solidFill>
          <a:ln xmlns:a="http://schemas.openxmlformats.org/drawingml/2006/main" w="0">
            <a:solidFill>
              <a:srgbClr val="16B8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284660-EAD7-4A5F-BF5F-C754171E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160" y="510979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E5"/>
          </a:solidFill>
          <a:ln xmlns:a="http://schemas.openxmlformats.org/drawingml/2006/main" w="0">
            <a:solidFill>
              <a:srgbClr val="16B8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E7D149-B822-400A-A2FF-E09A50C8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 i="0">
                <a:solidFill>
                  <a:srgbClr val="087EAE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087EAE"/>
                </a:solidFill>
                <a:latin typeface="Oswald"/>
                <a:ea typeface="Oswald"/>
                <a:cs typeface="Oswald"/>
              </a:defRPr>
            </a:pPr>
            <a:r>
              <a:rPr sz="1125" b="1" i="0">
                <a:solidFill>
                  <a:srgbClr val="087EAE"/>
                </a:solidFill>
                <a:latin typeface="Oswald"/>
                <a:ea typeface="Oswald"/>
                <a:cs typeface="Oswald"/>
              </a:rPr>
              <a:t>PROYECTO FINAL · MACHINE LEARNING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7165B7-1009-4A54-9F63-58D578E1C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62075"/>
            <a:ext cx="581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405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defPPr>
          </a:lstStyle>
          <a:p xmlns:a="http://schemas.openxmlformats.org/drawingml/2006/main">
            <a:pPr algn="l">
              <a:defRPr sz="405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pPr>
            <a:r>
              <a:rPr sz="4050" b="1" i="0">
                <a:solidFill>
                  <a:srgbClr val="202638"/>
                </a:solidFill>
                <a:latin typeface="Blinker"/>
                <a:ea typeface="Blinker"/>
                <a:cs typeface="Blinker"/>
              </a:rPr>
              <a:t>Food AI</a:t>
            </a:r>
          </a:p>
          <a:p xmlns:a="http://schemas.openxmlformats.org/drawingml/2006/main">
            <a:pPr algn="l">
              <a:defRPr sz="405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pPr>
            <a:r>
              <a:rPr sz="4050" b="1" i="0">
                <a:solidFill>
                  <a:srgbClr val="202638"/>
                </a:solidFill>
                <a:latin typeface="Blinker"/>
                <a:ea typeface="Blinker"/>
                <a:cs typeface="Blinker"/>
              </a:rPr>
              <a:t>Recommender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474398-0A93-4AC4-8E4B-4169DB763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263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6EB9F0-D9C6-410E-9520-F510ED7E8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263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CD00BC-5054-4277-B21C-A6B0DB1C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4810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575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pPr>
            <a:r>
              <a:rPr sz="1575" b="0" i="0">
                <a:solidFill>
                  <a:srgbClr val="5E6676"/>
                </a:solidFill>
                <a:latin typeface="Oswald"/>
                <a:ea typeface="Oswald"/>
                <a:cs typeface="Oswald"/>
              </a:rPr>
              <a:t>Recomendación semántica de platos según preferencias, restricciones y lenguaje natural.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14447D-CF2B-4BC3-901C-8158B48DA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B8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A5FBC8-EDAC-462E-B737-3DCA55D94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125" b="1" i="0">
                <a:solidFill>
                  <a:srgbClr val="16B8E5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16B8E5"/>
                </a:solidFill>
                <a:latin typeface="Oswald"/>
                <a:ea typeface="Oswald"/>
                <a:cs typeface="Oswald"/>
              </a:defRPr>
            </a:pPr>
            <a:r>
              <a:rPr sz="1125" b="1" i="0">
                <a:solidFill>
                  <a:srgbClr val="16B8E5"/>
                </a:solidFill>
                <a:latin typeface="Oswald"/>
                <a:ea typeface="Oswald"/>
                <a:cs typeface="Oswald"/>
              </a:rPr>
              <a:t>80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5906F2-67DD-4517-9F47-0A029A8B7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86300"/>
            <a:ext cx="110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1" i="0">
                <a:solidFill>
                  <a:srgbClr val="087EAE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087EAE"/>
                </a:solidFill>
                <a:latin typeface="Oswald"/>
                <a:ea typeface="Oswald"/>
                <a:cs typeface="Oswald"/>
              </a:defRPr>
            </a:pPr>
            <a:r>
              <a:rPr sz="975" b="1" i="0">
                <a:solidFill>
                  <a:srgbClr val="087EAE"/>
                </a:solidFill>
                <a:latin typeface="Oswald"/>
                <a:ea typeface="Oswald"/>
                <a:cs typeface="Oswald"/>
              </a:rPr>
              <a:t>PLATOS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4E7E7F-3514-4188-88D3-4CCF1F32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863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00" b="0" i="0">
                <a:solidFill>
                  <a:srgbClr val="5E66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5E667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E6676"/>
                </a:solidFill>
                <a:latin typeface="Arial"/>
                <a:ea typeface="Arial"/>
                <a:cs typeface="Arial"/>
              </a:rPr>
              <a:t>catálogo reproducible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89A84D-5409-4A08-BD3B-F2A7D8AA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686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D55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CF40D7-A15A-4160-AF23-2CAFB8545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7910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125" b="1" i="0">
                <a:solidFill>
                  <a:srgbClr val="7D55E8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7D55E8"/>
                </a:solidFill>
                <a:latin typeface="Oswald"/>
                <a:ea typeface="Oswald"/>
                <a:cs typeface="Oswald"/>
              </a:defRPr>
            </a:pPr>
            <a:r>
              <a:rPr sz="1125" b="1" i="0">
                <a:solidFill>
                  <a:srgbClr val="7D55E8"/>
                </a:solidFill>
                <a:latin typeface="Oswald"/>
                <a:ea typeface="Oswald"/>
                <a:cs typeface="Oswald"/>
              </a:rPr>
              <a:t>100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8507BF-E917-48C4-96D2-92EBCF508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686300"/>
            <a:ext cx="133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1" i="0">
                <a:solidFill>
                  <a:srgbClr val="7D55E8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7D55E8"/>
                </a:solidFill>
                <a:latin typeface="Oswald"/>
                <a:ea typeface="Oswald"/>
                <a:cs typeface="Oswald"/>
              </a:defRPr>
            </a:pPr>
            <a:r>
              <a:rPr sz="975" b="1" i="0">
                <a:solidFill>
                  <a:srgbClr val="7D55E8"/>
                </a:solidFill>
                <a:latin typeface="Oswald"/>
                <a:ea typeface="Oswald"/>
                <a:cs typeface="Oswald"/>
              </a:rPr>
              <a:t>CONSULTAS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2672F4-D6B2-4148-A9C1-0368344FA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8863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00" b="0" i="0">
                <a:solidFill>
                  <a:srgbClr val="5E66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5E667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E6676"/>
                </a:solidFill>
                <a:latin typeface="Arial"/>
                <a:ea typeface="Arial"/>
                <a:cs typeface="Arial"/>
              </a:rPr>
              <a:t>anotadas y separadas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626B87-33EA-42C3-95ED-9EF3DFA83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686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08A2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D95A5C-1D85-4CE7-BA9C-DDA094FE2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7910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125" b="1" i="0">
                <a:solidFill>
                  <a:srgbClr val="E08A22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E08A22"/>
                </a:solidFill>
                <a:latin typeface="Oswald"/>
                <a:ea typeface="Oswald"/>
                <a:cs typeface="Oswald"/>
              </a:defRPr>
            </a:pPr>
            <a:r>
              <a:rPr sz="1125" b="1" i="0">
                <a:solidFill>
                  <a:srgbClr val="E08A22"/>
                </a:solidFill>
                <a:latin typeface="Oswald"/>
                <a:ea typeface="Oswald"/>
                <a:cs typeface="Oswald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EA9351-762A-40FD-B087-81B9F743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686300"/>
            <a:ext cx="952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1" i="0">
                <a:solidFill>
                  <a:srgbClr val="E08A22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E08A22"/>
                </a:solidFill>
                <a:latin typeface="Oswald"/>
                <a:ea typeface="Oswald"/>
                <a:cs typeface="Oswald"/>
              </a:defRPr>
            </a:pPr>
            <a:r>
              <a:rPr sz="975" b="1" i="0">
                <a:solidFill>
                  <a:srgbClr val="E08A22"/>
                </a:solidFill>
                <a:latin typeface="Oswald"/>
                <a:ea typeface="Oswald"/>
                <a:cs typeface="Oswald"/>
              </a:rPr>
              <a:t>TOP-3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C603AB-7132-4BE3-B554-8F3215E37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8863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00" b="0" i="0">
                <a:solidFill>
                  <a:srgbClr val="5E66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5E667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E6676"/>
                </a:solidFill>
                <a:latin typeface="Arial"/>
                <a:ea typeface="Arial"/>
                <a:cs typeface="Arial"/>
              </a:rPr>
              <a:t>resultado visible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9790B4-ABDD-413B-B2AE-60F56059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3524250" cy="2724150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EAF9FD"/>
          </a:solidFill>
          <a:ln xmlns:a="http://schemas.openxmlformats.org/drawingml/2006/main" w="9525">
            <a:solidFill>
              <a:srgbClr val="16B8E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DB2D1E-E904-4BB8-ADB7-C8CD548D1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145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1" i="0">
                <a:solidFill>
                  <a:srgbClr val="087EAE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087EAE"/>
                </a:solidFill>
                <a:latin typeface="Oswald"/>
                <a:ea typeface="Oswald"/>
                <a:cs typeface="Oswald"/>
              </a:defRPr>
            </a:pPr>
            <a:r>
              <a:rPr sz="1050" b="1" i="0">
                <a:solidFill>
                  <a:srgbClr val="087EAE"/>
                </a:solidFill>
                <a:latin typeface="Oswald"/>
                <a:ea typeface="Oswald"/>
                <a:cs typeface="Oswald"/>
              </a:rPr>
              <a:t>DE LA CONSULTA AL PLATO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5BE3EF-CD63-4457-9494-C644BB3A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14600"/>
            <a:ext cx="276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defPPr>
          </a:lstStyle>
          <a:p xmlns:a="http://schemas.openxmlformats.org/drawingml/2006/main">
            <a:pPr algn="l">
              <a:defRPr sz="165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pPr>
            <a:r>
              <a:rPr sz="1650" b="1" i="0">
                <a:solidFill>
                  <a:srgbClr val="202638"/>
                </a:solidFill>
                <a:latin typeface="Blinker"/>
                <a:ea typeface="Blinker"/>
                <a:cs typeface="Blinker"/>
              </a:rPr>
              <a:t>Escribe o habla</a:t>
            </a:r>
          </a:p>
          <a:p xmlns:a="http://schemas.openxmlformats.org/drawingml/2006/main">
            <a:pPr algn="l">
              <a:defRPr sz="165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pPr>
            <a:r>
              <a:rPr sz="1650" b="1" i="0">
                <a:solidFill>
                  <a:srgbClr val="202638"/>
                </a:solidFill>
                <a:latin typeface="Blinker"/>
                <a:ea typeface="Blinker"/>
                <a:cs typeface="Blinker"/>
              </a:rPr>
              <a:t>↓</a:t>
            </a:r>
          </a:p>
          <a:p xmlns:a="http://schemas.openxmlformats.org/drawingml/2006/main">
            <a:pPr algn="l">
              <a:defRPr sz="165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pPr>
            <a:r>
              <a:rPr sz="1650" b="1" i="0">
                <a:solidFill>
                  <a:srgbClr val="202638"/>
                </a:solidFill>
                <a:latin typeface="Blinker"/>
                <a:ea typeface="Blinker"/>
                <a:cs typeface="Blinker"/>
              </a:rPr>
              <a:t>La IA interpreta</a:t>
            </a:r>
          </a:p>
          <a:p xmlns:a="http://schemas.openxmlformats.org/drawingml/2006/main">
            <a:pPr algn="l">
              <a:defRPr sz="165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pPr>
            <a:r>
              <a:rPr sz="1650" b="1" i="0">
                <a:solidFill>
                  <a:srgbClr val="202638"/>
                </a:solidFill>
                <a:latin typeface="Blinker"/>
                <a:ea typeface="Blinker"/>
                <a:cs typeface="Blinker"/>
              </a:rPr>
              <a:t>↓</a:t>
            </a:r>
          </a:p>
          <a:p xmlns:a="http://schemas.openxmlformats.org/drawingml/2006/main">
            <a:pPr algn="l">
              <a:defRPr sz="165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pPr>
            <a:r>
              <a:rPr sz="1650" b="1" i="0">
                <a:solidFill>
                  <a:srgbClr val="202638"/>
                </a:solidFill>
                <a:latin typeface="Blinker"/>
                <a:ea typeface="Blinker"/>
                <a:cs typeface="Blinker"/>
              </a:rPr>
              <a:t>Filtro seguro</a:t>
            </a:r>
          </a:p>
          <a:p xmlns:a="http://schemas.openxmlformats.org/drawingml/2006/main">
            <a:pPr algn="l">
              <a:defRPr sz="165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pPr>
            <a:r>
              <a:rPr sz="1650" b="1" i="0">
                <a:solidFill>
                  <a:srgbClr val="202638"/>
                </a:solidFill>
                <a:latin typeface="Blinker"/>
                <a:ea typeface="Blinker"/>
                <a:cs typeface="Blinker"/>
              </a:rPr>
              <a:t>↓</a:t>
            </a:r>
          </a:p>
          <a:p xmlns:a="http://schemas.openxmlformats.org/drawingml/2006/main">
            <a:pPr algn="l">
              <a:defRPr sz="165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pPr>
            <a:r>
              <a:rPr sz="1650" b="1" i="0">
                <a:solidFill>
                  <a:srgbClr val="202638"/>
                </a:solidFill>
                <a:latin typeface="Blinker"/>
                <a:ea typeface="Blinker"/>
                <a:cs typeface="Blinker"/>
              </a:rPr>
              <a:t>Top-3 explicado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2C110AF-977E-4776-9618-9671BD6D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2100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1" i="0">
                <a:solidFill>
                  <a:srgbClr val="7D55E8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7D55E8"/>
                </a:solidFill>
                <a:latin typeface="Oswald"/>
                <a:ea typeface="Oswald"/>
                <a:cs typeface="Oswald"/>
              </a:defRPr>
            </a:pPr>
            <a:r>
              <a:rPr sz="1050" b="1" i="0">
                <a:solidFill>
                  <a:srgbClr val="7D55E8"/>
                </a:solidFill>
                <a:latin typeface="Oswald"/>
                <a:ea typeface="Oswald"/>
                <a:cs typeface="Oswald"/>
              </a:rPr>
              <a:t>Web · kiosko · meseros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FACDED0-9AB2-4B7F-933D-C4B5A8859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960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750" b="1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pPr>
            <a:r>
              <a:rPr sz="750" b="1" i="0">
                <a:solidFill>
                  <a:srgbClr val="5E6676"/>
                </a:solidFill>
                <a:latin typeface="Oswald"/>
                <a:ea typeface="Oswald"/>
                <a:cs typeface="Oswald"/>
              </a:rPr>
              <a:t>MAESTRÍA · SISTEMA DE COMIDAS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8D66CBF-6B29-4302-B2FC-77C2A91B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750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r">
              <a:defRPr sz="750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pPr>
            <a:r>
              <a:rPr sz="750" b="0" i="0">
                <a:solidFill>
                  <a:srgbClr val="5E6676"/>
                </a:solidFill>
                <a:latin typeface="Oswald"/>
                <a:ea typeface="Oswald"/>
                <a:cs typeface="Oswald"/>
              </a:rPr>
              <a:t>PRESENTACIÓN INDIVIDUAL · 5 MINUTOS</a:t>
            </a:r>
          </a:p>
        </p:txBody>
      </p:sp>
    </p:spTree>
    <p:extLst>
      <p:ext uri="{BB962C8B-B14F-4D97-AF65-F5344CB8AC3E}">
        <p14:creationId xmlns:p14="http://schemas.microsoft.com/office/powerpoint/2010/main" val="34709132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4ABF883-BB0A-4F9A-AE50-7DFBB495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18D6BB-4BC0-4B78-B905-8C569B63F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-400050"/>
            <a:ext cx="1762125" cy="1104900"/>
          </a:xfrm>
          <a:custGeom xmlns:a="http://schemas.openxmlformats.org/drawingml/2006/main">
            <a:pathLst>
              <a:path w="1762125" h="1104900">
                <a:moveTo>
                  <a:pt x="0" y="0"/>
                </a:moveTo>
                <a:lnTo>
                  <a:pt x="1762125" y="0"/>
                </a:lnTo>
                <a:lnTo>
                  <a:pt x="1333500" y="1104900"/>
                </a:lnTo>
                <a:lnTo>
                  <a:pt x="476250" y="1104900"/>
                </a:lnTo>
                <a:close/>
              </a:path>
            </a:pathLst>
          </a:custGeom>
          <a:solidFill xmlns:a="http://schemas.openxmlformats.org/drawingml/2006/main">
            <a:srgbClr val="7D55E8"/>
          </a:solidFill>
          <a:ln xmlns:a="http://schemas.openxmlformats.org/drawingml/2006/main" w="9525">
            <a:solidFill>
              <a:srgbClr val="7D55E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85E564-9FA0-44F3-8A26-B579BD72C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6248400"/>
            <a:ext cx="1714500" cy="914400"/>
          </a:xfrm>
          <a:custGeom xmlns:a="http://schemas.openxmlformats.org/drawingml/2006/main">
            <a:pathLst>
              <a:path w="1714500" h="914400">
                <a:moveTo>
                  <a:pt x="400050" y="0"/>
                </a:moveTo>
                <a:lnTo>
                  <a:pt x="1314450" y="0"/>
                </a:lnTo>
                <a:lnTo>
                  <a:pt x="1714500" y="914400"/>
                </a:lnTo>
                <a:lnTo>
                  <a:pt x="0" y="914400"/>
                </a:lnTo>
                <a:close/>
              </a:path>
            </a:pathLst>
          </a:custGeom>
          <a:solidFill xmlns:a="http://schemas.openxmlformats.org/drawingml/2006/main">
            <a:srgbClr val="16B8E5"/>
          </a:solidFill>
          <a:ln xmlns:a="http://schemas.openxmlformats.org/drawingml/2006/main" w="9525">
            <a:solidFill>
              <a:srgbClr val="16B8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78638E-7879-43D2-950A-46808196F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29200"/>
            <a:ext cx="1619250" cy="1619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D0EE30-5727-481C-A75C-729493251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914900"/>
            <a:ext cx="1847850" cy="18478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D55E8">
                <a:alpha val="40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DC85DF-7418-44C6-9C15-794E8805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66750"/>
            <a:ext cx="2095500" cy="2476500"/>
          </a:xfrm>
          <a:custGeom xmlns:a="http://schemas.openxmlformats.org/drawingml/2006/main">
            <a:pathLst>
              <a:path w="2095500" h="2476500">
                <a:moveTo>
                  <a:pt x="762000" y="0"/>
                </a:moveTo>
                <a:lnTo>
                  <a:pt x="2095500" y="0"/>
                </a:lnTo>
                <a:lnTo>
                  <a:pt x="2095500" y="1428750"/>
                </a:lnTo>
                <a:lnTo>
                  <a:pt x="1066800" y="2476500"/>
                </a:lnTo>
                <a:lnTo>
                  <a:pt x="0" y="2476500"/>
                </a:lnTo>
                <a:lnTo>
                  <a:pt x="0" y="11049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B8E5">
                <a:alpha val="46667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A255A2-AA9E-4C98-9AD4-891FC758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8102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55E8"/>
          </a:solidFill>
          <a:ln xmlns:a="http://schemas.openxmlformats.org/drawingml/2006/main" w="0">
            <a:solidFill>
              <a:srgbClr val="7D55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B10DB0-983D-4D11-B382-2A597E17E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160" y="651071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55E8"/>
          </a:solidFill>
          <a:ln xmlns:a="http://schemas.openxmlformats.org/drawingml/2006/main" w="0">
            <a:solidFill>
              <a:srgbClr val="7D55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6B2B48-A88F-4CD7-B021-F742AC6D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008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55E8"/>
          </a:solidFill>
          <a:ln xmlns:a="http://schemas.openxmlformats.org/drawingml/2006/main" w="0">
            <a:solidFill>
              <a:srgbClr val="7D55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9C06E0-7319-4074-9669-23FFD2476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240" y="651071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55E8"/>
          </a:solidFill>
          <a:ln xmlns:a="http://schemas.openxmlformats.org/drawingml/2006/main" w="0">
            <a:solidFill>
              <a:srgbClr val="7D55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4C03C3-4B31-4433-B7B2-009C96E51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" y="58102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55E8"/>
          </a:solidFill>
          <a:ln xmlns:a="http://schemas.openxmlformats.org/drawingml/2006/main" w="0">
            <a:solidFill>
              <a:srgbClr val="7D55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46F105-E498-420E-AFA1-903134B0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240" y="510979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55E8"/>
          </a:solidFill>
          <a:ln xmlns:a="http://schemas.openxmlformats.org/drawingml/2006/main" w="0">
            <a:solidFill>
              <a:srgbClr val="7D55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25C032-DD9F-40DD-99CB-7603C97A4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196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55E8"/>
          </a:solidFill>
          <a:ln xmlns:a="http://schemas.openxmlformats.org/drawingml/2006/main" w="0">
            <a:solidFill>
              <a:srgbClr val="7D55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03A7B9-7FE7-4FD4-985A-21521AFE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160" y="510979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55E8"/>
          </a:solidFill>
          <a:ln xmlns:a="http://schemas.openxmlformats.org/drawingml/2006/main" w="0">
            <a:solidFill>
              <a:srgbClr val="7D55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59E7E5-66F4-4977-ACCC-F533D9DA4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1" i="0">
                <a:solidFill>
                  <a:srgbClr val="7D55E8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7D55E8"/>
                </a:solidFill>
                <a:latin typeface="Oswald"/>
                <a:ea typeface="Oswald"/>
                <a:cs typeface="Oswald"/>
              </a:defRPr>
            </a:pPr>
            <a:r>
              <a:rPr sz="1050" b="1" i="0">
                <a:solidFill>
                  <a:srgbClr val="7D55E8"/>
                </a:solidFill>
                <a:latin typeface="Oswald"/>
                <a:ea typeface="Oswald"/>
                <a:cs typeface="Oswald"/>
              </a:rPr>
              <a:t>01 / CONTEXTO Y SOLUCIÓN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E4CADF-6911-43C2-9E4D-F0D05ED88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200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85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defPPr>
          </a:lstStyle>
          <a:p xmlns:a="http://schemas.openxmlformats.org/drawingml/2006/main">
            <a:pPr algn="l">
              <a:defRPr sz="285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pPr>
            <a:r>
              <a:rPr sz="2850" b="1" i="0">
                <a:solidFill>
                  <a:srgbClr val="202638"/>
                </a:solidFill>
                <a:latin typeface="Blinker"/>
                <a:ea typeface="Blinker"/>
                <a:cs typeface="Blinker"/>
              </a:rPr>
              <a:t>Una frase, un plato compatible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8A3C24-E0A2-4063-9B95-3C52145B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962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pPr>
            <a:r>
              <a:rPr sz="1350" b="0" i="0">
                <a:solidFill>
                  <a:srgbClr val="5E6676"/>
                </a:solidFill>
                <a:latin typeface="Oswald"/>
                <a:ea typeface="Oswald"/>
                <a:cs typeface="Oswald"/>
              </a:rPr>
              <a:t>La interfaz convierte una solicitud cotidiana en una búsqueda de menú útil.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317CA3-E0C2-4BF5-960F-81433A24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263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4C3146-2113-4F86-BBF9-D1F260C0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050" b="1" i="0">
                <a:solidFill>
                  <a:srgbClr val="202638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r">
              <a:defRPr sz="1050" b="1" i="0">
                <a:solidFill>
                  <a:srgbClr val="202638"/>
                </a:solidFill>
                <a:latin typeface="Oswald"/>
                <a:ea typeface="Oswald"/>
                <a:cs typeface="Oswald"/>
              </a:defRPr>
            </a:pPr>
            <a:r>
              <a:rPr sz="1050" b="1" i="0">
                <a:solidFill>
                  <a:srgbClr val="202638"/>
                </a:solidFill>
                <a:latin typeface="Oswald"/>
                <a:ea typeface="Oswald"/>
                <a:cs typeface="Oswald"/>
              </a:rPr>
              <a:t>FOOD AI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25A43D-FB6E-4CA9-8756-8DAAC55F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4095750" cy="3048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202638"/>
          </a:solidFill>
          <a:ln xmlns:a="http://schemas.openxmlformats.org/drawingml/2006/main" w="0">
            <a:solidFill>
              <a:srgbClr val="20263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272687-6507-440E-BD8F-0E3570AEA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52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1" i="0">
                <a:solidFill>
                  <a:srgbClr val="16B8E5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6B8E5"/>
                </a:solidFill>
                <a:latin typeface="Oswald"/>
                <a:ea typeface="Oswald"/>
                <a:cs typeface="Oswald"/>
              </a:defRPr>
            </a:pPr>
            <a:r>
              <a:rPr sz="1200" b="1" i="0">
                <a:solidFill>
                  <a:srgbClr val="16B8E5"/>
                </a:solidFill>
                <a:latin typeface="Oswald"/>
                <a:ea typeface="Oswald"/>
                <a:cs typeface="Oswald"/>
              </a:rPr>
              <a:t>Problema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8768D0-35C9-45F8-A097-62C13040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09900"/>
            <a:ext cx="323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75" b="1" i="0">
                <a:solidFill>
                  <a:srgbClr val="FFFFFF"/>
                </a:solidFill>
                <a:latin typeface="Blinker"/>
                <a:ea typeface="Blinker"/>
                <a:cs typeface="Blinker"/>
              </a:defRPr>
            </a:defPPr>
          </a:lstStyle>
          <a:p xmlns:a="http://schemas.openxmlformats.org/drawingml/2006/main">
            <a:pPr algn="l">
              <a:defRPr sz="2175" b="1" i="0">
                <a:solidFill>
                  <a:srgbClr val="FFFFFF"/>
                </a:solidFill>
                <a:latin typeface="Blinker"/>
                <a:ea typeface="Blinker"/>
                <a:cs typeface="Blinker"/>
              </a:defRPr>
            </a:pPr>
            <a:r>
              <a:rPr sz="2175" b="1" i="0">
                <a:solidFill>
                  <a:srgbClr val="FFFFFF"/>
                </a:solidFill>
                <a:latin typeface="Blinker"/>
                <a:ea typeface="Blinker"/>
                <a:cs typeface="Blinker"/>
              </a:rPr>
              <a:t>Los menús digitales obligan a comparar categorías, ingredientes y filtros manualmente.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21F861-D011-4E28-9C3F-C25880C1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3086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 i="0">
                <a:solidFill>
                  <a:srgbClr val="C7D0DC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C7D0DC"/>
                </a:solidFill>
                <a:latin typeface="Oswald"/>
                <a:ea typeface="Oswald"/>
                <a:cs typeface="Oswald"/>
              </a:defRPr>
            </a:pPr>
            <a:r>
              <a:rPr sz="1275" b="0" i="0">
                <a:solidFill>
                  <a:srgbClr val="C7D0DC"/>
                </a:solidFill>
                <a:latin typeface="Oswald"/>
                <a:ea typeface="Oswald"/>
                <a:cs typeface="Oswald"/>
              </a:rPr>
              <a:t>La consulta natural reduce fricción para web, kiosko y aplicación de meseros.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A0FB72-7E61-40D5-A962-DBBBD2B4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14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 i="1">
                <a:solidFill>
                  <a:srgbClr val="16B8E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 i="1">
                <a:solidFill>
                  <a:srgbClr val="16B8E5"/>
                </a:solidFill>
                <a:latin typeface="Arial"/>
                <a:ea typeface="Arial"/>
                <a:cs typeface="Arial"/>
              </a:defRPr>
            </a:pPr>
            <a:r>
              <a:rPr sz="975" b="0" i="1">
                <a:solidFill>
                  <a:srgbClr val="16B8E5"/>
                </a:solidFill>
                <a:latin typeface="Arial"/>
                <a:ea typeface="Arial"/>
                <a:cs typeface="Arial"/>
              </a:rPr>
              <a:t>"Algo vegetariano, sin lactosa y menor a Bs 50"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6F36E4-84B5-4179-8C67-5E4ED2E8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266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D55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D21DFF-49EA-4206-A8C1-93208EB3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3717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125" b="1" i="0">
                <a:solidFill>
                  <a:srgbClr val="7D55E8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7D55E8"/>
                </a:solidFill>
                <a:latin typeface="Oswald"/>
                <a:ea typeface="Oswald"/>
                <a:cs typeface="Oswald"/>
              </a:defRPr>
            </a:pPr>
            <a:r>
              <a:rPr sz="1125" b="1" i="0">
                <a:solidFill>
                  <a:srgbClr val="7D55E8"/>
                </a:solidFill>
                <a:latin typeface="Oswald"/>
                <a:ea typeface="Oswald"/>
                <a:cs typeface="Oswald"/>
              </a:rPr>
              <a:t>01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C4B8BD-4AC4-45DE-8D05-AF4D41E7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7647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pPr>
            <a:r>
              <a:rPr sz="1500" b="1" i="0">
                <a:solidFill>
                  <a:srgbClr val="202638"/>
                </a:solidFill>
                <a:latin typeface="Blinker"/>
                <a:ea typeface="Blinker"/>
                <a:cs typeface="Blinker"/>
              </a:rPr>
              <a:t>Entrada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D92C66-AD78-498C-903E-9A5BECA6B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336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pPr>
            <a:r>
              <a:rPr sz="1200" b="0" i="0">
                <a:solidFill>
                  <a:srgbClr val="5E6676"/>
                </a:solidFill>
                <a:latin typeface="Oswald"/>
                <a:ea typeface="Oswald"/>
                <a:cs typeface="Oswald"/>
              </a:rPr>
              <a:t>Texto o voz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57B011-8E23-45F2-8CA6-5FF149B8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6765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0FF124-50C4-46B3-BE3E-B2DD9C966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914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D55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B2851D-AF99-4A43-AD5B-53E77DB24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194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125" b="1" i="0">
                <a:solidFill>
                  <a:srgbClr val="7D55E8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7D55E8"/>
                </a:solidFill>
                <a:latin typeface="Oswald"/>
                <a:ea typeface="Oswald"/>
                <a:cs typeface="Oswald"/>
              </a:defRPr>
            </a:pPr>
            <a:r>
              <a:rPr sz="1125" b="1" i="0">
                <a:solidFill>
                  <a:srgbClr val="7D55E8"/>
                </a:solidFill>
                <a:latin typeface="Oswald"/>
                <a:ea typeface="Oswald"/>
                <a:cs typeface="Oswald"/>
              </a:rPr>
              <a:t>02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44FECB-C2AE-4B56-9150-64DBEB4BA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2417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pPr>
            <a:r>
              <a:rPr sz="1500" b="1" i="0">
                <a:solidFill>
                  <a:srgbClr val="202638"/>
                </a:solidFill>
                <a:latin typeface="Blinker"/>
                <a:ea typeface="Blinker"/>
                <a:cs typeface="Blinker"/>
              </a:rPr>
              <a:t>Interpretación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EF7357-825D-43B7-BBB3-58BED66C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813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pPr>
            <a:r>
              <a:rPr sz="1200" b="0" i="0">
                <a:solidFill>
                  <a:srgbClr val="5E6676"/>
                </a:solidFill>
                <a:latin typeface="Oswald"/>
                <a:ea typeface="Oswald"/>
                <a:cs typeface="Oswald"/>
              </a:rPr>
              <a:t>Preferencias y restricciones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30CEB9E-4398-4E5D-AD8C-67407D4F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33242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8F7049-EC77-428E-A62C-3671DB645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562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08A2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65112BB-142C-4AED-9BEE-43E818A6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6671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125" b="1" i="0">
                <a:solidFill>
                  <a:srgbClr val="E08A22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E08A22"/>
                </a:solidFill>
                <a:latin typeface="Oswald"/>
                <a:ea typeface="Oswald"/>
                <a:cs typeface="Oswald"/>
              </a:defRPr>
            </a:pPr>
            <a:r>
              <a:rPr sz="1125" b="1" i="0">
                <a:solidFill>
                  <a:srgbClr val="E08A22"/>
                </a:solidFill>
                <a:latin typeface="Oswald"/>
                <a:ea typeface="Oswald"/>
                <a:cs typeface="Oswald"/>
              </a:rPr>
              <a:t>03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3B5710F-B539-42A2-AB56-0EA353F07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7187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pPr>
            <a:r>
              <a:rPr sz="1500" b="1" i="0">
                <a:solidFill>
                  <a:srgbClr val="202638"/>
                </a:solidFill>
                <a:latin typeface="Blinker"/>
                <a:ea typeface="Blinker"/>
                <a:cs typeface="Blinker"/>
              </a:rPr>
              <a:t>Seguridad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1FF5D48-D293-432F-8595-A3F87C574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290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pPr>
            <a:r>
              <a:rPr sz="1200" b="0" i="0">
                <a:solidFill>
                  <a:srgbClr val="5E6676"/>
                </a:solidFill>
                <a:latin typeface="Oswald"/>
                <a:ea typeface="Oswald"/>
                <a:cs typeface="Oswald"/>
              </a:rPr>
              <a:t>Filtro de disponibilidad y alérgenos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B5575BA-2602-482A-8980-2893782F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39719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3BF2731-72F1-4B1C-94A5-80C9A8C8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210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D55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F4F33AA-ADA5-45CB-99FD-3E38453FE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3148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125" b="1" i="0">
                <a:solidFill>
                  <a:srgbClr val="7D55E8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7D55E8"/>
                </a:solidFill>
                <a:latin typeface="Oswald"/>
                <a:ea typeface="Oswald"/>
                <a:cs typeface="Oswald"/>
              </a:defRPr>
            </a:pPr>
            <a:r>
              <a:rPr sz="1125" b="1" i="0">
                <a:solidFill>
                  <a:srgbClr val="7D55E8"/>
                </a:solidFill>
                <a:latin typeface="Oswald"/>
                <a:ea typeface="Oswald"/>
                <a:cs typeface="Oswald"/>
              </a:rPr>
              <a:t>04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1FBA94F-F7AD-4DAC-BD4D-EB71C5A99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1957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pPr>
            <a:r>
              <a:rPr sz="1500" b="1" i="0">
                <a:solidFill>
                  <a:srgbClr val="202638"/>
                </a:solidFill>
                <a:latin typeface="Blinker"/>
                <a:ea typeface="Blinker"/>
                <a:cs typeface="Blinker"/>
              </a:rPr>
              <a:t>Ranking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BBE14E6-BF29-4BD8-A866-783F5DC3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767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pPr>
            <a:r>
              <a:rPr sz="1200" b="0" i="0">
                <a:solidFill>
                  <a:srgbClr val="5E6676"/>
                </a:solidFill>
                <a:latin typeface="Oswald"/>
                <a:ea typeface="Oswald"/>
                <a:cs typeface="Oswald"/>
              </a:rPr>
              <a:t>Embeddings + coincidencias + popularidad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36F0098-10F1-4517-9688-83B928E6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4619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15B748D-64BA-41AD-A68D-31B93277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857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D55E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9DF69B3-5FAF-4204-9C09-7C20E3B5B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9625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125" b="1" i="0">
                <a:solidFill>
                  <a:srgbClr val="7D55E8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7D55E8"/>
                </a:solidFill>
                <a:latin typeface="Oswald"/>
                <a:ea typeface="Oswald"/>
                <a:cs typeface="Oswald"/>
              </a:defRPr>
            </a:pPr>
            <a:r>
              <a:rPr sz="1125" b="1" i="0">
                <a:solidFill>
                  <a:srgbClr val="7D55E8"/>
                </a:solidFill>
                <a:latin typeface="Oswald"/>
                <a:ea typeface="Oswald"/>
                <a:cs typeface="Oswald"/>
              </a:rPr>
              <a:t>05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5983AA5-A754-44F5-A6BF-72CD51D83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6727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pPr>
            <a:r>
              <a:rPr sz="1500" b="1" i="0">
                <a:solidFill>
                  <a:srgbClr val="202638"/>
                </a:solidFill>
                <a:latin typeface="Blinker"/>
                <a:ea typeface="Blinker"/>
                <a:cs typeface="Blinker"/>
              </a:rPr>
              <a:t>Resultado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DF1F512-8EE7-492F-8230-6BBD6560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244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pPr>
            <a:r>
              <a:rPr sz="1200" b="0" i="0">
                <a:solidFill>
                  <a:srgbClr val="5E6676"/>
                </a:solidFill>
                <a:latin typeface="Oswald"/>
                <a:ea typeface="Oswald"/>
                <a:cs typeface="Oswald"/>
              </a:rPr>
              <a:t>Tres platos explicados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FDF15CB-A607-4D21-BE4F-78E6F0E3C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600700"/>
            <a:ext cx="5095875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9525">
            <a:solidFill>
              <a:srgbClr val="7D55E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E8AD608-9E00-4615-9303-EF01C84F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705475"/>
            <a:ext cx="4619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125" b="1" i="0">
                <a:solidFill>
                  <a:srgbClr val="7D55E8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7D55E8"/>
                </a:solidFill>
                <a:latin typeface="Oswald"/>
                <a:ea typeface="Oswald"/>
                <a:cs typeface="Oswald"/>
              </a:defRPr>
            </a:pPr>
            <a:r>
              <a:rPr sz="1125" b="1" i="0">
                <a:solidFill>
                  <a:srgbClr val="7D55E8"/>
                </a:solidFill>
                <a:latin typeface="Oswald"/>
                <a:ea typeface="Oswald"/>
                <a:cs typeface="Oswald"/>
              </a:rPr>
              <a:t>La IA actúa en la interpretación semántica y el ordenamiento.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FB1C1B5-B612-48B6-A281-548B4ED2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960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750" b="1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pPr>
            <a:r>
              <a:rPr sz="750" b="1" i="0">
                <a:solidFill>
                  <a:srgbClr val="5E6676"/>
                </a:solidFill>
                <a:latin typeface="Oswald"/>
                <a:ea typeface="Oswald"/>
                <a:cs typeface="Oswald"/>
              </a:rPr>
              <a:t>MAESTRÍA · SISTEMA DE COMIDAS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6F37774-22FA-46D4-B2CA-AD00F23D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750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r">
              <a:defRPr sz="750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pPr>
            <a:r>
              <a:rPr sz="750" b="0" i="0">
                <a:solidFill>
                  <a:srgbClr val="5E6676"/>
                </a:solidFill>
                <a:latin typeface="Oswald"/>
                <a:ea typeface="Oswald"/>
                <a:cs typeface="Oswald"/>
              </a:rPr>
              <a:t>PROYECTO FINAL DE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26807777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1A3172D-5918-4ABA-8F09-E5D5BE74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8AE750-DFB6-4FD6-A6A1-1659B4F8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-400050"/>
            <a:ext cx="1762125" cy="1104900"/>
          </a:xfrm>
          <a:custGeom xmlns:a="http://schemas.openxmlformats.org/drawingml/2006/main">
            <a:pathLst>
              <a:path w="1762125" h="1104900">
                <a:moveTo>
                  <a:pt x="0" y="0"/>
                </a:moveTo>
                <a:lnTo>
                  <a:pt x="1762125" y="0"/>
                </a:lnTo>
                <a:lnTo>
                  <a:pt x="1333500" y="1104900"/>
                </a:lnTo>
                <a:lnTo>
                  <a:pt x="476250" y="1104900"/>
                </a:lnTo>
                <a:close/>
              </a:path>
            </a:pathLst>
          </a:custGeom>
          <a:solidFill xmlns:a="http://schemas.openxmlformats.org/drawingml/2006/main">
            <a:srgbClr val="16B8E5"/>
          </a:solidFill>
          <a:ln xmlns:a="http://schemas.openxmlformats.org/drawingml/2006/main" w="9525">
            <a:solidFill>
              <a:srgbClr val="16B8E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F16702-16AD-45B8-AC51-D419C545A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6248400"/>
            <a:ext cx="1714500" cy="914400"/>
          </a:xfrm>
          <a:custGeom xmlns:a="http://schemas.openxmlformats.org/drawingml/2006/main">
            <a:pathLst>
              <a:path w="1714500" h="914400">
                <a:moveTo>
                  <a:pt x="400050" y="0"/>
                </a:moveTo>
                <a:lnTo>
                  <a:pt x="1314450" y="0"/>
                </a:lnTo>
                <a:lnTo>
                  <a:pt x="1714500" y="914400"/>
                </a:lnTo>
                <a:lnTo>
                  <a:pt x="0" y="914400"/>
                </a:lnTo>
                <a:close/>
              </a:path>
            </a:pathLst>
          </a:custGeom>
          <a:solidFill xmlns:a="http://schemas.openxmlformats.org/drawingml/2006/main">
            <a:srgbClr val="7D55E8"/>
          </a:solidFill>
          <a:ln xmlns:a="http://schemas.openxmlformats.org/drawingml/2006/main" w="9525">
            <a:solidFill>
              <a:srgbClr val="7D55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6A48C5-BF3A-4728-978A-1ED23B41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29200"/>
            <a:ext cx="1619250" cy="1619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FDD239-B5B8-4480-AF12-E7DD9D313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914900"/>
            <a:ext cx="1847850" cy="18478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B8E5">
                <a:alpha val="40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45356B-03A3-4916-8E29-F02D537F4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66750"/>
            <a:ext cx="2095500" cy="2476500"/>
          </a:xfrm>
          <a:custGeom xmlns:a="http://schemas.openxmlformats.org/drawingml/2006/main">
            <a:pathLst>
              <a:path w="2095500" h="2476500">
                <a:moveTo>
                  <a:pt x="762000" y="0"/>
                </a:moveTo>
                <a:lnTo>
                  <a:pt x="2095500" y="0"/>
                </a:lnTo>
                <a:lnTo>
                  <a:pt x="2095500" y="1428750"/>
                </a:lnTo>
                <a:lnTo>
                  <a:pt x="1066800" y="2476500"/>
                </a:lnTo>
                <a:lnTo>
                  <a:pt x="0" y="2476500"/>
                </a:lnTo>
                <a:lnTo>
                  <a:pt x="0" y="11049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D55E8">
                <a:alpha val="46667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CCC609-E9B1-4640-A5F4-3C22FFA2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8102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E5"/>
          </a:solidFill>
          <a:ln xmlns:a="http://schemas.openxmlformats.org/drawingml/2006/main" w="0">
            <a:solidFill>
              <a:srgbClr val="16B8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404A0B-CC8D-47A4-9BD0-0D3A0246D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160" y="651071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E5"/>
          </a:solidFill>
          <a:ln xmlns:a="http://schemas.openxmlformats.org/drawingml/2006/main" w="0">
            <a:solidFill>
              <a:srgbClr val="16B8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A907BA-AD87-4717-918E-449F0E5E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008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E5"/>
          </a:solidFill>
          <a:ln xmlns:a="http://schemas.openxmlformats.org/drawingml/2006/main" w="0">
            <a:solidFill>
              <a:srgbClr val="16B8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768688-BC9B-4278-8EAA-5C6460FD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240" y="651071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E5"/>
          </a:solidFill>
          <a:ln xmlns:a="http://schemas.openxmlformats.org/drawingml/2006/main" w="0">
            <a:solidFill>
              <a:srgbClr val="16B8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34A4A7-0089-4118-83BA-7E5002BA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" y="58102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E5"/>
          </a:solidFill>
          <a:ln xmlns:a="http://schemas.openxmlformats.org/drawingml/2006/main" w="0">
            <a:solidFill>
              <a:srgbClr val="16B8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431342-8ED4-44DC-B67B-C4233324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240" y="510979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E5"/>
          </a:solidFill>
          <a:ln xmlns:a="http://schemas.openxmlformats.org/drawingml/2006/main" w="0">
            <a:solidFill>
              <a:srgbClr val="16B8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5044D0-DAB3-4968-8959-26D65B8E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196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E5"/>
          </a:solidFill>
          <a:ln xmlns:a="http://schemas.openxmlformats.org/drawingml/2006/main" w="0">
            <a:solidFill>
              <a:srgbClr val="16B8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5CC3C9-43EF-4233-B35E-EF027691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160" y="510979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E5"/>
          </a:solidFill>
          <a:ln xmlns:a="http://schemas.openxmlformats.org/drawingml/2006/main" w="0">
            <a:solidFill>
              <a:srgbClr val="16B8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001163-4B25-42B7-9CF5-FEEF1C10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1" i="0">
                <a:solidFill>
                  <a:srgbClr val="16B8E5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16B8E5"/>
                </a:solidFill>
                <a:latin typeface="Oswald"/>
                <a:ea typeface="Oswald"/>
                <a:cs typeface="Oswald"/>
              </a:defRPr>
            </a:pPr>
            <a:r>
              <a:rPr sz="1050" b="1" i="0">
                <a:solidFill>
                  <a:srgbClr val="16B8E5"/>
                </a:solidFill>
                <a:latin typeface="Oswald"/>
                <a:ea typeface="Oswald"/>
                <a:cs typeface="Oswald"/>
              </a:rPr>
              <a:t>02 / DISEÑO EXPERIMENTAL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2E2DD8-2A56-4D88-A74F-30680F19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200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85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defPPr>
          </a:lstStyle>
          <a:p xmlns:a="http://schemas.openxmlformats.org/drawingml/2006/main">
            <a:pPr algn="l">
              <a:defRPr sz="285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pPr>
            <a:r>
              <a:rPr sz="2850" b="1" i="0">
                <a:solidFill>
                  <a:srgbClr val="202638"/>
                </a:solidFill>
                <a:latin typeface="Blinker"/>
                <a:ea typeface="Blinker"/>
                <a:cs typeface="Blinker"/>
              </a:rPr>
              <a:t>Datos, línea base y modelo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8664BC-5BD0-426B-A43D-09057D01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962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pPr>
            <a:r>
              <a:rPr sz="1350" b="0" i="0">
                <a:solidFill>
                  <a:srgbClr val="5E6676"/>
                </a:solidFill>
                <a:latin typeface="Oswald"/>
                <a:ea typeface="Oswald"/>
                <a:cs typeface="Oswald"/>
              </a:rPr>
              <a:t>Particiones separadas para ajustar, validar y probar sin contaminar la evaluación.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B34512-F6FE-414F-AC75-CB1DCE760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263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3DE138-59DA-45D8-BA83-72146329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050" b="1" i="0">
                <a:solidFill>
                  <a:srgbClr val="202638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r">
              <a:defRPr sz="1050" b="1" i="0">
                <a:solidFill>
                  <a:srgbClr val="202638"/>
                </a:solidFill>
                <a:latin typeface="Oswald"/>
                <a:ea typeface="Oswald"/>
                <a:cs typeface="Oswald"/>
              </a:defRPr>
            </a:pPr>
            <a:r>
              <a:rPr sz="1050" b="1" i="0">
                <a:solidFill>
                  <a:srgbClr val="202638"/>
                </a:solidFill>
                <a:latin typeface="Oswald"/>
                <a:ea typeface="Oswald"/>
                <a:cs typeface="Oswald"/>
              </a:rPr>
              <a:t>FOOD AI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46895D-648F-4170-BBE8-E229DE81E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3314700" cy="316230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EAF9FD"/>
          </a:solidFill>
          <a:ln xmlns:a="http://schemas.openxmlformats.org/drawingml/2006/main" w="9525">
            <a:solidFill>
              <a:srgbClr val="16B8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276883-E410-47BF-BAC0-1800E743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384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 i="0">
                <a:solidFill>
                  <a:srgbClr val="087EAE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087EAE"/>
                </a:solidFill>
                <a:latin typeface="Oswald"/>
                <a:ea typeface="Oswald"/>
                <a:cs typeface="Oswald"/>
              </a:defRPr>
            </a:pPr>
            <a:r>
              <a:rPr sz="1125" b="1" i="0">
                <a:solidFill>
                  <a:srgbClr val="087EAE"/>
                </a:solidFill>
                <a:latin typeface="Oswald"/>
                <a:ea typeface="Oswald"/>
                <a:cs typeface="Oswald"/>
              </a:rPr>
              <a:t>DATASET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F3EB30-081A-4C46-93CD-093B6B45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123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435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defPPr>
          </a:lstStyle>
          <a:p xmlns:a="http://schemas.openxmlformats.org/drawingml/2006/main">
            <a:pPr algn="l">
              <a:defRPr sz="435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pPr>
            <a:r>
              <a:rPr sz="4350" b="1" i="0">
                <a:solidFill>
                  <a:srgbClr val="202638"/>
                </a:solidFill>
                <a:latin typeface="Blinker"/>
                <a:ea typeface="Blinker"/>
                <a:cs typeface="Blinker"/>
              </a:rPr>
              <a:t>80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FD42C5-D9C1-41D2-804C-16450E0D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670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pPr>
            <a:r>
              <a:rPr sz="1725" b="1" i="0">
                <a:solidFill>
                  <a:srgbClr val="5E6676"/>
                </a:solidFill>
                <a:latin typeface="Oswald"/>
                <a:ea typeface="Oswald"/>
                <a:cs typeface="Oswald"/>
              </a:rPr>
              <a:t>platos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25445A-7BFC-4722-987E-E2232BC99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33800"/>
            <a:ext cx="228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 i="0">
                <a:solidFill>
                  <a:srgbClr val="2026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 i="0">
                <a:solidFill>
                  <a:srgbClr val="20263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202638"/>
                </a:solidFill>
                <a:latin typeface="Arial"/>
                <a:ea typeface="Arial"/>
                <a:cs typeface="Arial"/>
              </a:rPr>
              <a:t>100 consultas anotadas</a:t>
            </a:r>
          </a:p>
          <a:p xmlns:a="http://schemas.openxmlformats.org/drawingml/2006/main">
            <a:pPr algn="l">
              <a:defRPr sz="1200" b="0" i="0">
                <a:solidFill>
                  <a:srgbClr val="20263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202638"/>
                </a:solidFill>
                <a:latin typeface="Arial"/>
                <a:ea typeface="Arial"/>
                <a:cs typeface="Arial"/>
              </a:rPr>
              <a:t>20 ajuste · 20 validación</a:t>
            </a:r>
          </a:p>
          <a:p xmlns:a="http://schemas.openxmlformats.org/drawingml/2006/main">
            <a:pPr algn="l">
              <a:defRPr sz="1200" b="0" i="0">
                <a:solidFill>
                  <a:srgbClr val="20263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202638"/>
                </a:solidFill>
                <a:latin typeface="Arial"/>
                <a:ea typeface="Arial"/>
                <a:cs typeface="Arial"/>
              </a:rPr>
              <a:t>60 prueba · semilla 20261010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13E1ED-446F-45DE-93DC-B1774BF7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625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 i="0">
                <a:solidFill>
                  <a:srgbClr val="087EAE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087EAE"/>
                </a:solidFill>
                <a:latin typeface="Oswald"/>
                <a:ea typeface="Oswald"/>
                <a:cs typeface="Oswald"/>
              </a:defRPr>
            </a:pPr>
            <a:r>
              <a:rPr sz="1125" b="1" i="0">
                <a:solidFill>
                  <a:srgbClr val="087EAE"/>
                </a:solidFill>
                <a:latin typeface="Oswald"/>
                <a:ea typeface="Oswald"/>
                <a:cs typeface="Oswald"/>
              </a:rPr>
              <a:t>Sintético, compartible y reproducible.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2EDB20-24EC-40BC-AA74-BF7E3684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33600"/>
            <a:ext cx="3314700" cy="316230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3CF683-E66C-4D69-A083-0E01231B1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384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 i="0">
                <a:solidFill>
                  <a:srgbClr val="E08A22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E08A22"/>
                </a:solidFill>
                <a:latin typeface="Oswald"/>
                <a:ea typeface="Oswald"/>
                <a:cs typeface="Oswald"/>
              </a:defRPr>
            </a:pPr>
            <a:r>
              <a:rPr sz="1125" b="1" i="0">
                <a:solidFill>
                  <a:srgbClr val="E08A22"/>
                </a:solidFill>
                <a:latin typeface="Oswald"/>
                <a:ea typeface="Oswald"/>
                <a:cs typeface="Oswald"/>
              </a:rPr>
              <a:t>LÍNEA BASE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804779-6121-4DF8-94DC-A46B33E5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5750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40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pPr>
            <a:r>
              <a:rPr sz="2400" b="1" i="0">
                <a:solidFill>
                  <a:srgbClr val="202638"/>
                </a:solidFill>
                <a:latin typeface="Blinker"/>
                <a:ea typeface="Blinker"/>
                <a:cs typeface="Blinker"/>
              </a:rPr>
              <a:t>Filtros +</a:t>
            </a:r>
          </a:p>
          <a:p xmlns:a="http://schemas.openxmlformats.org/drawingml/2006/main">
            <a:pPr algn="l">
              <a:defRPr sz="240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pPr>
            <a:r>
              <a:rPr sz="2400" b="1" i="0">
                <a:solidFill>
                  <a:srgbClr val="202638"/>
                </a:solidFill>
                <a:latin typeface="Blinker"/>
                <a:ea typeface="Blinker"/>
                <a:cs typeface="Blinker"/>
              </a:rPr>
              <a:t>popularidad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345B1B-41F1-491F-AD13-FF266F3F9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88620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pPr>
            <a:r>
              <a:rPr sz="1350" b="0" i="0">
                <a:solidFill>
                  <a:srgbClr val="5E6676"/>
                </a:solidFill>
                <a:latin typeface="Oswald"/>
                <a:ea typeface="Oswald"/>
                <a:cs typeface="Oswald"/>
              </a:rPr>
              <a:t>Mismos candidatos seguros. Después ordena por popularidad histórica.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516152-D932-457D-9173-C5B068CB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7625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 i="0">
                <a:solidFill>
                  <a:srgbClr val="E08A22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E08A22"/>
                </a:solidFill>
                <a:latin typeface="Oswald"/>
                <a:ea typeface="Oswald"/>
                <a:cs typeface="Oswald"/>
              </a:defRPr>
            </a:pPr>
            <a:r>
              <a:rPr sz="1125" b="1" i="0">
                <a:solidFill>
                  <a:srgbClr val="E08A22"/>
                </a:solidFill>
                <a:latin typeface="Oswald"/>
                <a:ea typeface="Oswald"/>
                <a:cs typeface="Oswald"/>
              </a:rPr>
              <a:t>Comparación justa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89BFD4-40E9-4A8B-866D-EDE19E30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33600"/>
            <a:ext cx="3505200" cy="316230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202638"/>
          </a:solidFill>
          <a:ln xmlns:a="http://schemas.openxmlformats.org/drawingml/2006/main" w="0">
            <a:solidFill>
              <a:srgbClr val="20263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6C1745-3C8A-4E93-9964-7B3212CE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384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 i="0">
                <a:solidFill>
                  <a:srgbClr val="16B8E5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16B8E5"/>
                </a:solidFill>
                <a:latin typeface="Oswald"/>
                <a:ea typeface="Oswald"/>
                <a:cs typeface="Oswald"/>
              </a:defRPr>
            </a:pPr>
            <a:r>
              <a:rPr sz="1125" b="1" i="0">
                <a:solidFill>
                  <a:srgbClr val="16B8E5"/>
                </a:solidFill>
                <a:latin typeface="Oswald"/>
                <a:ea typeface="Oswald"/>
                <a:cs typeface="Oswald"/>
              </a:rPr>
              <a:t>MODELO HÍBRIDO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500FA1-5804-4DA3-93EE-DD0801E33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5750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400" b="1" i="0">
                <a:solidFill>
                  <a:srgbClr val="FFFFFF"/>
                </a:solidFill>
                <a:latin typeface="Blinker"/>
                <a:ea typeface="Blinker"/>
                <a:cs typeface="Blinker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FFFFFF"/>
                </a:solidFill>
                <a:latin typeface="Blinker"/>
                <a:ea typeface="Blinker"/>
                <a:cs typeface="Blinker"/>
              </a:defRPr>
            </a:pPr>
            <a:r>
              <a:rPr sz="2400" b="1" i="0">
                <a:solidFill>
                  <a:srgbClr val="FFFFFF"/>
                </a:solidFill>
                <a:latin typeface="Blinker"/>
                <a:ea typeface="Blinker"/>
                <a:cs typeface="Blinker"/>
              </a:rPr>
              <a:t>Embeddings</a:t>
            </a:r>
          </a:p>
          <a:p xmlns:a="http://schemas.openxmlformats.org/drawingml/2006/main">
            <a:pPr algn="l">
              <a:defRPr sz="2400" b="1" i="0">
                <a:solidFill>
                  <a:srgbClr val="FFFFFF"/>
                </a:solidFill>
                <a:latin typeface="Blinker"/>
                <a:ea typeface="Blinker"/>
                <a:cs typeface="Blinker"/>
              </a:defRPr>
            </a:pPr>
            <a:r>
              <a:rPr sz="2400" b="1" i="0">
                <a:solidFill>
                  <a:srgbClr val="FFFFFF"/>
                </a:solidFill>
                <a:latin typeface="Blinker"/>
                <a:ea typeface="Blinker"/>
                <a:cs typeface="Blinker"/>
              </a:rPr>
              <a:t>multilingües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4094A9-CA05-4C4E-B9FF-21AD1C05D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43350"/>
            <a:ext cx="228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 i="0">
                <a:solidFill>
                  <a:srgbClr val="FFFFFF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Oswald"/>
                <a:ea typeface="Oswald"/>
                <a:cs typeface="Oswald"/>
              </a:defRPr>
            </a:pPr>
            <a:r>
              <a:rPr sz="1650" b="1" i="0">
                <a:solidFill>
                  <a:srgbClr val="FFFFFF"/>
                </a:solidFill>
                <a:latin typeface="Oswald"/>
                <a:ea typeface="Oswald"/>
                <a:cs typeface="Oswald"/>
              </a:rPr>
              <a:t>55% semántica</a:t>
            </a:r>
          </a:p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Oswald"/>
                <a:ea typeface="Oswald"/>
                <a:cs typeface="Oswald"/>
              </a:defRPr>
            </a:pPr>
            <a:r>
              <a:rPr sz="1650" b="1" i="0">
                <a:solidFill>
                  <a:srgbClr val="FFFFFF"/>
                </a:solidFill>
                <a:latin typeface="Oswald"/>
                <a:ea typeface="Oswald"/>
                <a:cs typeface="Oswald"/>
              </a:rPr>
              <a:t>25% restricciones</a:t>
            </a:r>
          </a:p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Oswald"/>
                <a:ea typeface="Oswald"/>
                <a:cs typeface="Oswald"/>
              </a:defRPr>
            </a:pPr>
            <a:r>
              <a:rPr sz="1650" b="1" i="0">
                <a:solidFill>
                  <a:srgbClr val="FFFFFF"/>
                </a:solidFill>
                <a:latin typeface="Oswald"/>
                <a:ea typeface="Oswald"/>
                <a:cs typeface="Oswald"/>
              </a:rPr>
              <a:t>20% popularidad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A25FE9-A43A-4FAC-80DA-EF518292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577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0" i="0">
                <a:solidFill>
                  <a:srgbClr val="C7D0DC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050" b="0" i="0">
                <a:solidFill>
                  <a:srgbClr val="C7D0DC"/>
                </a:solidFill>
                <a:latin typeface="Oswald"/>
                <a:ea typeface="Oswald"/>
                <a:cs typeface="Oswald"/>
              </a:defRPr>
            </a:pPr>
            <a:r>
              <a:rPr sz="1050" b="0" i="0">
                <a:solidFill>
                  <a:srgbClr val="C7D0DC"/>
                </a:solidFill>
                <a:latin typeface="Oswald"/>
                <a:ea typeface="Oswald"/>
                <a:cs typeface="Oswald"/>
              </a:rPr>
              <a:t>No es un chatbot: es recuperación vectorial.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AB1D2C-CE46-4F27-9141-00505CDD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960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750" b="1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pPr>
            <a:r>
              <a:rPr sz="750" b="1" i="0">
                <a:solidFill>
                  <a:srgbClr val="5E6676"/>
                </a:solidFill>
                <a:latin typeface="Oswald"/>
                <a:ea typeface="Oswald"/>
                <a:cs typeface="Oswald"/>
              </a:rPr>
              <a:t>MAESTRÍA · SISTEMA DE COMIDAS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BBFE731-F541-4403-9B7B-1D66E895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750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r">
              <a:defRPr sz="750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pPr>
            <a:r>
              <a:rPr sz="750" b="0" i="0">
                <a:solidFill>
                  <a:srgbClr val="5E6676"/>
                </a:solidFill>
                <a:latin typeface="Oswald"/>
                <a:ea typeface="Oswald"/>
                <a:cs typeface="Oswald"/>
              </a:rPr>
              <a:t>PROYECTO FINAL DE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20868843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D910B2-9E4A-4E58-8732-AD51AB77B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0066C8-6AC1-470F-A83F-24E18170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-400050"/>
            <a:ext cx="1762125" cy="1104900"/>
          </a:xfrm>
          <a:custGeom xmlns:a="http://schemas.openxmlformats.org/drawingml/2006/main">
            <a:pathLst>
              <a:path w="1762125" h="1104900">
                <a:moveTo>
                  <a:pt x="0" y="0"/>
                </a:moveTo>
                <a:lnTo>
                  <a:pt x="1762125" y="0"/>
                </a:lnTo>
                <a:lnTo>
                  <a:pt x="1333500" y="1104900"/>
                </a:lnTo>
                <a:lnTo>
                  <a:pt x="476250" y="1104900"/>
                </a:lnTo>
                <a:close/>
              </a:path>
            </a:pathLst>
          </a:custGeom>
          <a:solidFill xmlns:a="http://schemas.openxmlformats.org/drawingml/2006/main">
            <a:srgbClr val="7D55E8"/>
          </a:solidFill>
          <a:ln xmlns:a="http://schemas.openxmlformats.org/drawingml/2006/main" w="9525">
            <a:solidFill>
              <a:srgbClr val="7D55E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23DB89-1909-4825-ADAF-0E054F72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6248400"/>
            <a:ext cx="1714500" cy="914400"/>
          </a:xfrm>
          <a:custGeom xmlns:a="http://schemas.openxmlformats.org/drawingml/2006/main">
            <a:pathLst>
              <a:path w="1714500" h="914400">
                <a:moveTo>
                  <a:pt x="400050" y="0"/>
                </a:moveTo>
                <a:lnTo>
                  <a:pt x="1314450" y="0"/>
                </a:lnTo>
                <a:lnTo>
                  <a:pt x="1714500" y="914400"/>
                </a:lnTo>
                <a:lnTo>
                  <a:pt x="0" y="914400"/>
                </a:lnTo>
                <a:close/>
              </a:path>
            </a:pathLst>
          </a:custGeom>
          <a:solidFill xmlns:a="http://schemas.openxmlformats.org/drawingml/2006/main">
            <a:srgbClr val="16B8E5"/>
          </a:solidFill>
          <a:ln xmlns:a="http://schemas.openxmlformats.org/drawingml/2006/main" w="9525">
            <a:solidFill>
              <a:srgbClr val="16B8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F8ED40-BAF1-4555-96FA-A903954B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29200"/>
            <a:ext cx="1619250" cy="1619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FD959E-29E6-41ED-BDFA-37F4158C4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914900"/>
            <a:ext cx="1847850" cy="18478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D55E8">
                <a:alpha val="40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9424B1-A744-4889-ADE5-F7A0726C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66750"/>
            <a:ext cx="2095500" cy="2476500"/>
          </a:xfrm>
          <a:custGeom xmlns:a="http://schemas.openxmlformats.org/drawingml/2006/main">
            <a:pathLst>
              <a:path w="2095500" h="2476500">
                <a:moveTo>
                  <a:pt x="762000" y="0"/>
                </a:moveTo>
                <a:lnTo>
                  <a:pt x="2095500" y="0"/>
                </a:lnTo>
                <a:lnTo>
                  <a:pt x="2095500" y="1428750"/>
                </a:lnTo>
                <a:lnTo>
                  <a:pt x="1066800" y="2476500"/>
                </a:lnTo>
                <a:lnTo>
                  <a:pt x="0" y="2476500"/>
                </a:lnTo>
                <a:lnTo>
                  <a:pt x="0" y="11049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B8E5">
                <a:alpha val="46667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51AEF2-A352-4985-8590-65CC065B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8102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55E8"/>
          </a:solidFill>
          <a:ln xmlns:a="http://schemas.openxmlformats.org/drawingml/2006/main" w="0">
            <a:solidFill>
              <a:srgbClr val="7D55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52D441-9A8F-4FF0-A179-8D926A6F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160" y="651071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55E8"/>
          </a:solidFill>
          <a:ln xmlns:a="http://schemas.openxmlformats.org/drawingml/2006/main" w="0">
            <a:solidFill>
              <a:srgbClr val="7D55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D08988-C490-4C9C-892B-803ABB76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008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55E8"/>
          </a:solidFill>
          <a:ln xmlns:a="http://schemas.openxmlformats.org/drawingml/2006/main" w="0">
            <a:solidFill>
              <a:srgbClr val="7D55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677F9A-F1A4-4852-A62B-96F2E4BA9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240" y="651071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55E8"/>
          </a:solidFill>
          <a:ln xmlns:a="http://schemas.openxmlformats.org/drawingml/2006/main" w="0">
            <a:solidFill>
              <a:srgbClr val="7D55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430C33-334C-4096-ACF3-78B3E5BE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" y="58102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55E8"/>
          </a:solidFill>
          <a:ln xmlns:a="http://schemas.openxmlformats.org/drawingml/2006/main" w="0">
            <a:solidFill>
              <a:srgbClr val="7D55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F34787-EEE8-4F1F-B8C2-FA41B863A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240" y="510979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55E8"/>
          </a:solidFill>
          <a:ln xmlns:a="http://schemas.openxmlformats.org/drawingml/2006/main" w="0">
            <a:solidFill>
              <a:srgbClr val="7D55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94616D-46DE-44EF-BAA4-C0C6AABC5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196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55E8"/>
          </a:solidFill>
          <a:ln xmlns:a="http://schemas.openxmlformats.org/drawingml/2006/main" w="0">
            <a:solidFill>
              <a:srgbClr val="7D55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0268D1-59A7-4A1F-8550-C812E6A6C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160" y="510979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55E8"/>
          </a:solidFill>
          <a:ln xmlns:a="http://schemas.openxmlformats.org/drawingml/2006/main" w="0">
            <a:solidFill>
              <a:srgbClr val="7D55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FD4085-E8CD-4A0C-BF4D-C5971D7C5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1" i="0">
                <a:solidFill>
                  <a:srgbClr val="7D55E8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7D55E8"/>
                </a:solidFill>
                <a:latin typeface="Oswald"/>
                <a:ea typeface="Oswald"/>
                <a:cs typeface="Oswald"/>
              </a:defRPr>
            </a:pPr>
            <a:r>
              <a:rPr sz="1050" b="1" i="0">
                <a:solidFill>
                  <a:srgbClr val="7D55E8"/>
                </a:solidFill>
                <a:latin typeface="Oswald"/>
                <a:ea typeface="Oswald"/>
                <a:cs typeface="Oswald"/>
              </a:rPr>
              <a:t>03 / VALIDACIÓN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3DD394-3428-46D1-95BB-4BD12041A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200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85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defPPr>
          </a:lstStyle>
          <a:p xmlns:a="http://schemas.openxmlformats.org/drawingml/2006/main">
            <a:pPr algn="l">
              <a:defRPr sz="285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pPr>
            <a:r>
              <a:rPr sz="2850" b="1" i="0">
                <a:solidFill>
                  <a:srgbClr val="202638"/>
                </a:solidFill>
                <a:latin typeface="Blinker"/>
                <a:ea typeface="Blinker"/>
                <a:cs typeface="Blinker"/>
              </a:rPr>
              <a:t>Comparación honesta en la prueba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071EA0-1221-4DE9-B221-4EBA589B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962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pPr>
            <a:r>
              <a:rPr sz="1350" b="0" i="0">
                <a:solidFill>
                  <a:srgbClr val="5E6676"/>
                </a:solidFill>
                <a:latin typeface="Oswald"/>
                <a:ea typeface="Oswald"/>
                <a:cs typeface="Oswald"/>
              </a:rPr>
              <a:t>Precision@3: cuántos platos relevantes aparecen entre las tres primeras opciones.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6F1689-8BC0-4A0C-B473-7FDDE553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263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DCE8FE-4535-4012-9CF5-ED7F820BD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050" b="1" i="0">
                <a:solidFill>
                  <a:srgbClr val="202638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r">
              <a:defRPr sz="1050" b="1" i="0">
                <a:solidFill>
                  <a:srgbClr val="202638"/>
                </a:solidFill>
                <a:latin typeface="Oswald"/>
                <a:ea typeface="Oswald"/>
                <a:cs typeface="Oswald"/>
              </a:defRPr>
            </a:pPr>
            <a:r>
              <a:rPr sz="1050" b="1" i="0">
                <a:solidFill>
                  <a:srgbClr val="202638"/>
                </a:solidFill>
                <a:latin typeface="Oswald"/>
                <a:ea typeface="Oswald"/>
                <a:cs typeface="Oswald"/>
              </a:rPr>
              <a:t>FOOD AI</a:t>
            </a:r>
          </a:p>
        </p:txBody>
      </p:sp>
      <p:graphicFrame>
        <p:nvGraphicFrame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92367B-3E31-4ABF-812B-7D841D41A46B}"/>
              </a:ext>
            </a:extLst>
          </p:cNvPr>
          <p:cNvGraphicFramePr/>
          <p:nvPr/>
        </p:nvGraphicFramePr>
        <p:xfrm>
          <a:off xmlns:a="http://schemas.openxmlformats.org/drawingml/2006/main" x="723900" y="2133600"/>
          <a:ext xmlns:a="http://schemas.openxmlformats.org/drawingml/2006/main" cx="4857750" cy="2095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809750"/>
                <a:gridCol w="1524000"/>
                <a:gridCol w="1524000"/>
              </a:tblGrid>
              <a:tr h="523875">
                <a:tc>
                  <a:txBody>
                    <a:bodyPr/>
                    <a:lstStyle/>
                    <a:p>
                      <a:r>
                        <a:t>Sistema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Split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Precision@3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t>Pesos seleccionados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Validación (20)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0.6167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t>Línea base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Prueba (55)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0.6121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t>Modelo híbrido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Prueba (55)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E08A22"/>
                          </a:solidFill>
                          <a:latin typeface="Arial"/>
                          <a:ea typeface="Arial"/>
                          <a:cs typeface="Arial"/>
                        </a:rPr>
                        <a:t>0.4727</a:t>
                      </a:r>
                    </a:p>
                  </a:txBody>
                  <a:tcPr marL="91440" marR="91440" marT="45720" marB="45720">
                    <a:solidFill>
                      <a:srgbClr val="FFF3E3"/>
                    </a:solidFill>
                  </a:tcPr>
                </a:tc>
              </a:tr>
            </a:tbl>
          </a:graphicData>
        </a:graphic>
      </p:graphicFrame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C1B3B6-DB4C-469B-8026-DAACD896F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 i="0">
                <a:solidFill>
                  <a:srgbClr val="7D55E8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7D55E8"/>
                </a:solidFill>
                <a:latin typeface="Oswald"/>
                <a:ea typeface="Oswald"/>
                <a:cs typeface="Oswald"/>
              </a:defRPr>
            </a:pPr>
            <a:r>
              <a:rPr sz="1125" b="1" i="0">
                <a:solidFill>
                  <a:srgbClr val="7D55E8"/>
                </a:solidFill>
                <a:latin typeface="Oswald"/>
                <a:ea typeface="Oswald"/>
                <a:cs typeface="Oswald"/>
              </a:rPr>
              <a:t>Lectura del resultado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A93C87-AF76-4CD8-8461-03E56586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815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pPr>
            <a:r>
              <a:rPr sz="1725" b="1" i="0">
                <a:solidFill>
                  <a:srgbClr val="202638"/>
                </a:solidFill>
                <a:latin typeface="Blinker"/>
                <a:ea typeface="Blinker"/>
                <a:cs typeface="Blinker"/>
              </a:rPr>
              <a:t>La línea base todavía gana en este dataset sintético. La comparación se reporta sin ocultar el límite.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B4AEAF-4FD0-4927-B2E4-A27373B9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pPr>
            <a:r>
              <a:rPr sz="1200" b="0" i="0">
                <a:solidFill>
                  <a:srgbClr val="5E6676"/>
                </a:solidFill>
                <a:latin typeface="Oswald"/>
                <a:ea typeface="Oswald"/>
                <a:cs typeface="Oswald"/>
              </a:rPr>
              <a:t>La fortaleza actual está en el flujo completo: seguridad, particiones, API, frontend y trazabilidad.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20B10D-9F2D-4C82-8F23-2E2C3B99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33600"/>
            <a:ext cx="5276850" cy="3752850"/>
          </a:xfrm>
          <a:prstGeom xmlns:a="http://schemas.openxmlformats.org/drawingml/2006/main" prst="roundRect">
            <a:avLst>
              <a:gd name="adj" fmla="val 406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AC8553-458B-4893-B1FD-454722423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193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 i="0">
                <a:solidFill>
                  <a:srgbClr val="7D55E8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7D55E8"/>
                </a:solidFill>
                <a:latin typeface="Oswald"/>
                <a:ea typeface="Oswald"/>
                <a:cs typeface="Oswald"/>
              </a:defRPr>
            </a:pPr>
            <a:r>
              <a:rPr sz="1125" b="1" i="0">
                <a:solidFill>
                  <a:srgbClr val="7D55E8"/>
                </a:solidFill>
                <a:latin typeface="Oswald"/>
                <a:ea typeface="Oswald"/>
                <a:cs typeface="Oswald"/>
              </a:rPr>
              <a:t>PRECISION@3</a:t>
            </a:r>
          </a:p>
        </p:txBody>
      </p:sp>
      <p:graphicFrame>
        <p:nvGraphicFramePr>
          <p:cNvPr id="26" name="Chart">
            <a:extLst xmlns:a="http://schemas.openxmlformats.org/drawingml/2006/main">
              <a:ext uri="{FF2B5EF4-FFF2-40B4-BE49-F238E27FC236}">
                <a16:creationId xmlns:a16="http://schemas.microsoft.com/office/drawing/2014/main" id="{A9098140-42C5-49C9-8669-944DDBBC3B9A}"/>
              </a:ext>
            </a:extLst>
          </p:cNvPr>
          <p:cNvGraphicFramePr/>
          <p:nvPr/>
        </p:nvGraphicFramePr>
        <p:xfrm>
          <a:off xmlns:a="http://schemas.openxmlformats.org/drawingml/2006/main" x="6553200" y="2781300"/>
          <a:ext xmlns:a="http://schemas.openxmlformats.org/drawingml/2006/main" cx="4495800" cy="2381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5757c52161643d6"/>
          </a:graphicData>
        </a:graphic>
      </p:graphicFrame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03DD8D-B066-4F32-94DB-3E8B1E0C0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9527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050" b="1" i="0">
                <a:solidFill>
                  <a:srgbClr val="2026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20263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02638"/>
                </a:solidFill>
                <a:latin typeface="Arial"/>
                <a:ea typeface="Arial"/>
                <a:cs typeface="Arial"/>
              </a:rPr>
              <a:t>0.6167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1118AC-4CDD-4A13-8857-A52AE1DE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9718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050" b="1" i="0">
                <a:solidFill>
                  <a:srgbClr val="2026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20263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02638"/>
                </a:solidFill>
                <a:latin typeface="Arial"/>
                <a:ea typeface="Arial"/>
                <a:cs typeface="Arial"/>
              </a:rPr>
              <a:t>0.6121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18F901-E0EB-42E0-B4D3-13B10697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328612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050" b="1" i="0">
                <a:solidFill>
                  <a:srgbClr val="2026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20263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02638"/>
                </a:solidFill>
                <a:latin typeface="Arial"/>
                <a:ea typeface="Arial"/>
                <a:cs typeface="Arial"/>
              </a:rPr>
              <a:t>0.4727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7E3107-C01F-4A59-A21D-340A39EE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960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750" b="1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pPr>
            <a:r>
              <a:rPr sz="750" b="1" i="0">
                <a:solidFill>
                  <a:srgbClr val="5E6676"/>
                </a:solidFill>
                <a:latin typeface="Oswald"/>
                <a:ea typeface="Oswald"/>
                <a:cs typeface="Oswald"/>
              </a:rPr>
              <a:t>MAESTRÍA · SISTEMA DE COMIDAS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81F456-ACF3-4877-8E3B-BB029541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750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r">
              <a:defRPr sz="750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pPr>
            <a:r>
              <a:rPr sz="750" b="0" i="0">
                <a:solidFill>
                  <a:srgbClr val="5E6676"/>
                </a:solidFill>
                <a:latin typeface="Oswald"/>
                <a:ea typeface="Oswald"/>
                <a:cs typeface="Oswald"/>
              </a:rPr>
              <a:t>PROYECTO FINAL DE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104212415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17B0E57-8FA9-42BD-94D9-18E8C078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E1C5F5-15A4-4C0E-9B73-69A4C0EC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-400050"/>
            <a:ext cx="1762125" cy="1104900"/>
          </a:xfrm>
          <a:custGeom xmlns:a="http://schemas.openxmlformats.org/drawingml/2006/main">
            <a:pathLst>
              <a:path w="1762125" h="1104900">
                <a:moveTo>
                  <a:pt x="0" y="0"/>
                </a:moveTo>
                <a:lnTo>
                  <a:pt x="1762125" y="0"/>
                </a:lnTo>
                <a:lnTo>
                  <a:pt x="1333500" y="1104900"/>
                </a:lnTo>
                <a:lnTo>
                  <a:pt x="476250" y="1104900"/>
                </a:lnTo>
                <a:close/>
              </a:path>
            </a:pathLst>
          </a:custGeom>
          <a:solidFill xmlns:a="http://schemas.openxmlformats.org/drawingml/2006/main">
            <a:srgbClr val="16B8E5"/>
          </a:solidFill>
          <a:ln xmlns:a="http://schemas.openxmlformats.org/drawingml/2006/main" w="9525">
            <a:solidFill>
              <a:srgbClr val="16B8E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DE04DA-6AAE-4EF2-B0D8-AECD2C6CF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6248400"/>
            <a:ext cx="1714500" cy="914400"/>
          </a:xfrm>
          <a:custGeom xmlns:a="http://schemas.openxmlformats.org/drawingml/2006/main">
            <a:pathLst>
              <a:path w="1714500" h="914400">
                <a:moveTo>
                  <a:pt x="400050" y="0"/>
                </a:moveTo>
                <a:lnTo>
                  <a:pt x="1314450" y="0"/>
                </a:lnTo>
                <a:lnTo>
                  <a:pt x="1714500" y="914400"/>
                </a:lnTo>
                <a:lnTo>
                  <a:pt x="0" y="914400"/>
                </a:lnTo>
                <a:close/>
              </a:path>
            </a:pathLst>
          </a:custGeom>
          <a:solidFill xmlns:a="http://schemas.openxmlformats.org/drawingml/2006/main">
            <a:srgbClr val="7D55E8"/>
          </a:solidFill>
          <a:ln xmlns:a="http://schemas.openxmlformats.org/drawingml/2006/main" w="9525">
            <a:solidFill>
              <a:srgbClr val="7D55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17133F-3BF6-4558-814B-4B5A20DA9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29200"/>
            <a:ext cx="1619250" cy="1619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07E01C-E0C7-4759-9045-72C19CA43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914900"/>
            <a:ext cx="1847850" cy="18478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B8E5">
                <a:alpha val="40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46ED38-53E8-4143-8A5E-1080B0D8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66750"/>
            <a:ext cx="2095500" cy="2476500"/>
          </a:xfrm>
          <a:custGeom xmlns:a="http://schemas.openxmlformats.org/drawingml/2006/main">
            <a:pathLst>
              <a:path w="2095500" h="2476500">
                <a:moveTo>
                  <a:pt x="762000" y="0"/>
                </a:moveTo>
                <a:lnTo>
                  <a:pt x="2095500" y="0"/>
                </a:lnTo>
                <a:lnTo>
                  <a:pt x="2095500" y="1428750"/>
                </a:lnTo>
                <a:lnTo>
                  <a:pt x="1066800" y="2476500"/>
                </a:lnTo>
                <a:lnTo>
                  <a:pt x="0" y="2476500"/>
                </a:lnTo>
                <a:lnTo>
                  <a:pt x="0" y="11049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D55E8">
                <a:alpha val="46667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F3FA0A-24E9-485D-99AC-3704F785D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8102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E5"/>
          </a:solidFill>
          <a:ln xmlns:a="http://schemas.openxmlformats.org/drawingml/2006/main" w="0">
            <a:solidFill>
              <a:srgbClr val="16B8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2EB7B9-B7B7-4A17-90F7-0B566528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160" y="651071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E5"/>
          </a:solidFill>
          <a:ln xmlns:a="http://schemas.openxmlformats.org/drawingml/2006/main" w="0">
            <a:solidFill>
              <a:srgbClr val="16B8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F37A4C-7025-46A6-B197-3F033C2A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008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E5"/>
          </a:solidFill>
          <a:ln xmlns:a="http://schemas.openxmlformats.org/drawingml/2006/main" w="0">
            <a:solidFill>
              <a:srgbClr val="16B8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58C2B5-880F-4E72-901B-CEC0F9F75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240" y="651071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E5"/>
          </a:solidFill>
          <a:ln xmlns:a="http://schemas.openxmlformats.org/drawingml/2006/main" w="0">
            <a:solidFill>
              <a:srgbClr val="16B8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04224F-5561-4792-A5F8-78E40CA9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" y="58102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E5"/>
          </a:solidFill>
          <a:ln xmlns:a="http://schemas.openxmlformats.org/drawingml/2006/main" w="0">
            <a:solidFill>
              <a:srgbClr val="16B8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44C9E0-9EC2-437A-904A-8B924A67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240" y="510979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E5"/>
          </a:solidFill>
          <a:ln xmlns:a="http://schemas.openxmlformats.org/drawingml/2006/main" w="0">
            <a:solidFill>
              <a:srgbClr val="16B8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14C72F-695A-464D-81B9-975652172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196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E5"/>
          </a:solidFill>
          <a:ln xmlns:a="http://schemas.openxmlformats.org/drawingml/2006/main" w="0">
            <a:solidFill>
              <a:srgbClr val="16B8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09F902-1C30-4703-8595-97D89281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160" y="510979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E5"/>
          </a:solidFill>
          <a:ln xmlns:a="http://schemas.openxmlformats.org/drawingml/2006/main" w="0">
            <a:solidFill>
              <a:srgbClr val="16B8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7AD194-0CEF-4DC2-9AE1-22095E1D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1" i="0">
                <a:solidFill>
                  <a:srgbClr val="16B8E5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16B8E5"/>
                </a:solidFill>
                <a:latin typeface="Oswald"/>
                <a:ea typeface="Oswald"/>
                <a:cs typeface="Oswald"/>
              </a:defRPr>
            </a:pPr>
            <a:r>
              <a:rPr sz="1050" b="1" i="0">
                <a:solidFill>
                  <a:srgbClr val="16B8E5"/>
                </a:solidFill>
                <a:latin typeface="Oswald"/>
                <a:ea typeface="Oswald"/>
                <a:cs typeface="Oswald"/>
              </a:rPr>
              <a:t>04 / DEMOSTRACIÓN Y CIERRE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336E1E-5F84-4B7A-AD0E-DB2628CAF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200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85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defPPr>
          </a:lstStyle>
          <a:p xmlns:a="http://schemas.openxmlformats.org/drawingml/2006/main">
            <a:pPr algn="l">
              <a:defRPr sz="285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pPr>
            <a:r>
              <a:rPr sz="2850" b="1" i="0">
                <a:solidFill>
                  <a:srgbClr val="202638"/>
                </a:solidFill>
                <a:latin typeface="Blinker"/>
                <a:ea typeface="Blinker"/>
                <a:cs typeface="Blinker"/>
              </a:rPr>
              <a:t>De una frase a una decisión útil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C709DF-B362-46C7-BE1B-3039075F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962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pPr>
            <a:r>
              <a:rPr sz="1350" b="0" i="0">
                <a:solidFill>
                  <a:srgbClr val="5E6676"/>
                </a:solidFill>
                <a:latin typeface="Oswald"/>
                <a:ea typeface="Oswald"/>
                <a:cs typeface="Oswald"/>
              </a:rPr>
              <a:t>El frontend muestra estados, interpretación, recomendaciones y límites de seguridad.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4F18F4-2BE8-474E-968A-4C1AE332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263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5B7014-0CD2-41D3-BE5E-05B57122F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050" b="1" i="0">
                <a:solidFill>
                  <a:srgbClr val="202638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r">
              <a:defRPr sz="1050" b="1" i="0">
                <a:solidFill>
                  <a:srgbClr val="202638"/>
                </a:solidFill>
                <a:latin typeface="Oswald"/>
                <a:ea typeface="Oswald"/>
                <a:cs typeface="Oswald"/>
              </a:defRPr>
            </a:pPr>
            <a:r>
              <a:rPr sz="1050" b="1" i="0">
                <a:solidFill>
                  <a:srgbClr val="202638"/>
                </a:solidFill>
                <a:latin typeface="Oswald"/>
                <a:ea typeface="Oswald"/>
                <a:cs typeface="Oswald"/>
              </a:rPr>
              <a:t>FOOD AI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14E329-2384-41EA-B898-6764D2AC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B8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A234BC-3DF8-4ACC-90CE-09A5F63C6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955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125" b="1" i="0">
                <a:solidFill>
                  <a:srgbClr val="16B8E5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16B8E5"/>
                </a:solidFill>
                <a:latin typeface="Oswald"/>
                <a:ea typeface="Oswald"/>
                <a:cs typeface="Oswald"/>
              </a:defRPr>
            </a:pPr>
            <a:r>
              <a:rPr sz="1125" b="1" i="0">
                <a:solidFill>
                  <a:srgbClr val="16B8E5"/>
                </a:solidFill>
                <a:latin typeface="Oswald"/>
                <a:ea typeface="Oswald"/>
                <a:cs typeface="Oswald"/>
              </a:rPr>
              <a:t>01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2DAB66-79DC-4FD2-9D8A-375228D7F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2002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pPr>
            <a:r>
              <a:rPr sz="1500" b="1" i="0">
                <a:solidFill>
                  <a:srgbClr val="202638"/>
                </a:solidFill>
                <a:latin typeface="Blinker"/>
                <a:ea typeface="Blinker"/>
                <a:cs typeface="Blinker"/>
              </a:rPr>
              <a:t>Válido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DAB135-9045-45CA-ADE4-46D8A7CDC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21932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pPr>
            <a:r>
              <a:rPr sz="1275" b="0" i="0">
                <a:solidFill>
                  <a:srgbClr val="5E6676"/>
                </a:solidFill>
                <a:latin typeface="Oswald"/>
                <a:ea typeface="Oswald"/>
                <a:cs typeface="Oswald"/>
              </a:rPr>
              <a:t>Vegetariano, sin lactosa y poco picante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7B6927-F770-42A4-8A98-AA6B772A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B8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467650-EF63-43E8-B6C6-21AC34FC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860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125" b="1" i="0">
                <a:solidFill>
                  <a:srgbClr val="16B8E5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16B8E5"/>
                </a:solidFill>
                <a:latin typeface="Oswald"/>
                <a:ea typeface="Oswald"/>
                <a:cs typeface="Oswald"/>
              </a:defRPr>
            </a:pPr>
            <a:r>
              <a:rPr sz="1125" b="1" i="0">
                <a:solidFill>
                  <a:srgbClr val="16B8E5"/>
                </a:solidFill>
                <a:latin typeface="Oswald"/>
                <a:ea typeface="Oswald"/>
                <a:cs typeface="Oswald"/>
              </a:rPr>
              <a:t>02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2B83B1-20A5-4D24-A3FB-31CB29149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908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pPr>
            <a:r>
              <a:rPr sz="1500" b="1" i="0">
                <a:solidFill>
                  <a:srgbClr val="202638"/>
                </a:solidFill>
                <a:latin typeface="Blinker"/>
                <a:ea typeface="Blinker"/>
                <a:cs typeface="Blinker"/>
              </a:rPr>
              <a:t>Difícil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3829AA-F512-44A1-A022-2C434AE8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8098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pPr>
            <a:r>
              <a:rPr sz="1275" b="0" i="0">
                <a:solidFill>
                  <a:srgbClr val="5E6676"/>
                </a:solidFill>
                <a:latin typeface="Oswald"/>
                <a:ea typeface="Oswald"/>
                <a:cs typeface="Oswald"/>
              </a:rPr>
              <a:t>Sin gluten con pollo y menor a Bs 50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A8A411-7890-4D83-8CF8-5E37760C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08A2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E1EF11-6958-4A80-B926-29FDE085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125" b="1" i="0">
                <a:solidFill>
                  <a:srgbClr val="E08A22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E08A22"/>
                </a:solidFill>
                <a:latin typeface="Oswald"/>
                <a:ea typeface="Oswald"/>
                <a:cs typeface="Oswald"/>
              </a:defRPr>
            </a:pPr>
            <a:r>
              <a:rPr sz="1125" b="1" i="0">
                <a:solidFill>
                  <a:srgbClr val="E08A22"/>
                </a:solidFill>
                <a:latin typeface="Oswald"/>
                <a:ea typeface="Oswald"/>
                <a:cs typeface="Oswald"/>
              </a:rPr>
              <a:t>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470C51-FBCC-4EB5-A85C-89DD8C46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813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pPr>
            <a:r>
              <a:rPr sz="1500" b="1" i="0">
                <a:solidFill>
                  <a:srgbClr val="202638"/>
                </a:solidFill>
                <a:latin typeface="Blinker"/>
                <a:ea typeface="Blinker"/>
                <a:cs typeface="Blinker"/>
              </a:rPr>
              <a:t>Seguridad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E80DAF-2502-462D-B8DC-2EA93C120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40042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pPr>
            <a:r>
              <a:rPr sz="1275" b="0" i="0">
                <a:solidFill>
                  <a:srgbClr val="5E6676"/>
                </a:solidFill>
                <a:latin typeface="Oswald"/>
                <a:ea typeface="Oswald"/>
                <a:cs typeface="Oswald"/>
              </a:rPr>
              <a:t>Alergia a pescado y quiero salmón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B76FFE-3F03-4F12-9A49-1FF5FF49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B8E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3CE44A-20BD-4CAC-9ED2-6AAC334A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671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125" b="1" i="0">
                <a:solidFill>
                  <a:srgbClr val="16B8E5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16B8E5"/>
                </a:solidFill>
                <a:latin typeface="Oswald"/>
                <a:ea typeface="Oswald"/>
                <a:cs typeface="Oswald"/>
              </a:defRPr>
            </a:pPr>
            <a:r>
              <a:rPr sz="1125" b="1" i="0">
                <a:solidFill>
                  <a:srgbClr val="16B8E5"/>
                </a:solidFill>
                <a:latin typeface="Oswald"/>
                <a:ea typeface="Oswald"/>
                <a:cs typeface="Oswald"/>
              </a:rPr>
              <a:t>04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C0EDB1-3252-4B86-BE72-F360DFEC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19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202638"/>
                </a:solidFill>
                <a:latin typeface="Blinker"/>
                <a:ea typeface="Blinker"/>
                <a:cs typeface="Blinker"/>
              </a:defRPr>
            </a:pPr>
            <a:r>
              <a:rPr sz="1500" b="1" i="0">
                <a:solidFill>
                  <a:srgbClr val="202638"/>
                </a:solidFill>
                <a:latin typeface="Blinker"/>
                <a:ea typeface="Blinker"/>
                <a:cs typeface="Blinker"/>
              </a:rPr>
              <a:t>Inválido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EC480DF-22A5-42C8-9372-05259A17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9909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pPr>
            <a:r>
              <a:rPr sz="1275" b="0" i="0">
                <a:solidFill>
                  <a:srgbClr val="5E6676"/>
                </a:solidFill>
                <a:latin typeface="Oswald"/>
                <a:ea typeface="Oswald"/>
                <a:cs typeface="Oswald"/>
              </a:rPr>
              <a:t>Texto vacío o de un carácter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F4E6ECD-923E-43B6-AC29-97CD2093F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5286375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EAF9FD"/>
          </a:solidFill>
          <a:ln xmlns:a="http://schemas.openxmlformats.org/drawingml/2006/main" w="9525">
            <a:solidFill>
              <a:srgbClr val="16B8E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98EE2D8-2B16-4AA5-96E6-8948BB61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054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 i="0">
                <a:solidFill>
                  <a:srgbClr val="087EAE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087EAE"/>
                </a:solidFill>
                <a:latin typeface="Oswald"/>
                <a:ea typeface="Oswald"/>
                <a:cs typeface="Oswald"/>
              </a:defRPr>
            </a:pPr>
            <a:r>
              <a:rPr sz="1125" b="1" i="0">
                <a:solidFill>
                  <a:srgbClr val="087EAE"/>
                </a:solidFill>
                <a:latin typeface="Oswald"/>
                <a:ea typeface="Oswald"/>
                <a:cs typeface="Oswald"/>
              </a:rPr>
              <a:t>VOZ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2AECE17-9A6D-4DCC-9EC2-8C469649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863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 i="0">
                <a:solidFill>
                  <a:srgbClr val="202638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200" b="0" i="0">
                <a:solidFill>
                  <a:srgbClr val="202638"/>
                </a:solidFill>
                <a:latin typeface="Oswald"/>
                <a:ea typeface="Oswald"/>
                <a:cs typeface="Oswald"/>
              </a:defRPr>
            </a:pPr>
            <a:r>
              <a:rPr sz="1200" b="0" i="0">
                <a:solidFill>
                  <a:srgbClr val="202638"/>
                </a:solidFill>
                <a:latin typeface="Oswald"/>
                <a:ea typeface="Oswald"/>
                <a:cs typeface="Oswald"/>
              </a:rPr>
              <a:t>Web Speech API transcribe y reutiliza el mismo endpoint.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82A650C-384C-4592-A927-2110BDC2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52650"/>
            <a:ext cx="4762500" cy="19812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02638"/>
          </a:solidFill>
          <a:ln xmlns:a="http://schemas.openxmlformats.org/drawingml/2006/main" w="0">
            <a:solidFill>
              <a:srgbClr val="20263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EAA3B24-429F-4958-A040-77AB64D72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574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 i="0">
                <a:solidFill>
                  <a:srgbClr val="E08A22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E08A22"/>
                </a:solidFill>
                <a:latin typeface="Oswald"/>
                <a:ea typeface="Oswald"/>
                <a:cs typeface="Oswald"/>
              </a:defRPr>
            </a:pPr>
            <a:r>
              <a:rPr sz="1125" b="1" i="0">
                <a:solidFill>
                  <a:srgbClr val="E08A22"/>
                </a:solidFill>
                <a:latin typeface="Oswald"/>
                <a:ea typeface="Oswald"/>
                <a:cs typeface="Oswald"/>
              </a:rPr>
              <a:t>USO RESPONSABLE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71DE0B0-7FC9-4A3F-A18D-1291A20C3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5750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 i="0">
                <a:solidFill>
                  <a:srgbClr val="FFFFFF"/>
                </a:solidFill>
                <a:latin typeface="Blinker"/>
                <a:ea typeface="Blinker"/>
                <a:cs typeface="Blinker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FFFFFF"/>
                </a:solidFill>
                <a:latin typeface="Blinker"/>
                <a:ea typeface="Blinker"/>
                <a:cs typeface="Blinker"/>
              </a:defRPr>
            </a:pPr>
            <a:r>
              <a:rPr sz="1725" b="1" i="0">
                <a:solidFill>
                  <a:srgbClr val="FFFFFF"/>
                </a:solidFill>
                <a:latin typeface="Blinker"/>
                <a:ea typeface="Blinker"/>
                <a:cs typeface="Blinker"/>
              </a:rPr>
              <a:t>Confirma ingredientes y</a:t>
            </a:r>
          </a:p>
          <a:p xmlns:a="http://schemas.openxmlformats.org/drawingml/2006/main">
            <a:pPr algn="l">
              <a:defRPr sz="1725" b="1" i="0">
                <a:solidFill>
                  <a:srgbClr val="FFFFFF"/>
                </a:solidFill>
                <a:latin typeface="Blinker"/>
                <a:ea typeface="Blinker"/>
                <a:cs typeface="Blinker"/>
              </a:defRPr>
            </a:pPr>
            <a:r>
              <a:rPr sz="1725" b="1" i="0">
                <a:solidFill>
                  <a:srgbClr val="FFFFFF"/>
                </a:solidFill>
                <a:latin typeface="Blinker"/>
                <a:ea typeface="Blinker"/>
                <a:cs typeface="Blinker"/>
              </a:rPr>
              <a:t>contaminación cruzada.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83738B3-8E7A-4E32-9396-A34E2A83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385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 i="0">
                <a:solidFill>
                  <a:srgbClr val="C7D0DC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125" b="0" i="0">
                <a:solidFill>
                  <a:srgbClr val="C7D0DC"/>
                </a:solidFill>
                <a:latin typeface="Oswald"/>
                <a:ea typeface="Oswald"/>
                <a:cs typeface="Oswald"/>
              </a:defRPr>
            </a:pPr>
            <a:r>
              <a:rPr sz="1125" b="0" i="0">
                <a:solidFill>
                  <a:srgbClr val="C7D0DC"/>
                </a:solidFill>
                <a:latin typeface="Oswald"/>
                <a:ea typeface="Oswald"/>
                <a:cs typeface="Oswald"/>
              </a:rPr>
              <a:t>Un alérgeno no registrado no garantiza seguridad.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C434B7C-8BEF-48D8-9E2A-7A985F2DF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19600"/>
            <a:ext cx="476250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9525">
            <a:solidFill>
              <a:srgbClr val="7D55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9BB5770-B1DA-42CD-98AF-14186AA6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6863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 i="0">
                <a:solidFill>
                  <a:srgbClr val="7D55E8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7D55E8"/>
                </a:solidFill>
                <a:latin typeface="Oswald"/>
                <a:ea typeface="Oswald"/>
                <a:cs typeface="Oswald"/>
              </a:defRPr>
            </a:pPr>
            <a:r>
              <a:rPr sz="1125" b="1" i="0">
                <a:solidFill>
                  <a:srgbClr val="7D55E8"/>
                </a:solidFill>
                <a:latin typeface="Oswald"/>
                <a:ea typeface="Oswald"/>
                <a:cs typeface="Oswald"/>
              </a:rPr>
              <a:t>PARA EJECUTAR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103943D-33FF-425E-B63F-DE67F18F0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0292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 i="0">
                <a:solidFill>
                  <a:srgbClr val="2026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 i="0">
                <a:solidFill>
                  <a:srgbClr val="20263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02638"/>
                </a:solidFill>
                <a:latin typeface="Arial"/>
                <a:ea typeface="Arial"/>
                <a:cs typeface="Arial"/>
              </a:rPr>
              <a:t>docker compose up --build</a:t>
            </a:r>
          </a:p>
          <a:p xmlns:a="http://schemas.openxmlformats.org/drawingml/2006/main">
            <a:pPr algn="l">
              <a:defRPr sz="1350" b="1" i="0">
                <a:solidFill>
                  <a:srgbClr val="20263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02638"/>
                </a:solidFill>
                <a:latin typeface="Arial"/>
                <a:ea typeface="Arial"/>
                <a:cs typeface="Arial"/>
              </a:rPr>
              <a:t>http://localhost:8080 · API /docs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0E7B3EE-4A44-411C-A5BF-0A036C03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960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750" b="1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pPr>
            <a:r>
              <a:rPr sz="750" b="1" i="0">
                <a:solidFill>
                  <a:srgbClr val="5E6676"/>
                </a:solidFill>
                <a:latin typeface="Oswald"/>
                <a:ea typeface="Oswald"/>
                <a:cs typeface="Oswald"/>
              </a:rPr>
              <a:t>MAESTRÍA · SISTEMA DE COMIDAS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819BF34-E60A-4181-A5C8-C1C8732A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960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750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algn="r">
              <a:defRPr sz="750" b="0" i="0">
                <a:solidFill>
                  <a:srgbClr val="5E6676"/>
                </a:solidFill>
                <a:latin typeface="Oswald"/>
                <a:ea typeface="Oswald"/>
                <a:cs typeface="Oswald"/>
              </a:defRPr>
            </a:pPr>
            <a:r>
              <a:rPr sz="750" b="0" i="0">
                <a:solidFill>
                  <a:srgbClr val="5E6676"/>
                </a:solidFill>
                <a:latin typeface="Oswald"/>
                <a:ea typeface="Oswald"/>
                <a:cs typeface="Oswald"/>
              </a:rPr>
              <a:t>GRACIAS · PREGUNTAS</a:t>
            </a:r>
          </a:p>
        </p:txBody>
      </p:sp>
    </p:spTree>
    <p:extLst>
      <p:ext uri="{BB962C8B-B14F-4D97-AF65-F5344CB8AC3E}">
        <p14:creationId xmlns:p14="http://schemas.microsoft.com/office/powerpoint/2010/main" val="17339176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2026-10-10T13:17:48.3520000Z</dcterms:created>
  <dcterms:modified xsi:type="dcterms:W3CDTF">2026-10-10T13:17:48.3530000Z</dcterms:modified>
</coreProperties>
</file>